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245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1H26 mix</c:v>
                </c:pt>
              </c:strCache>
            </c:strRef>
          </c:tx>
          <c:dPt>
            <c:idx val="0"/>
            <c:bubble3D val="0"/>
            <c:spPr>
              <a:solidFill>
                <a:srgbClr val="1F5E40"/>
              </a:solidFill>
            </c:spPr>
            <c:extLst>
              <c:ext xmlns:c16="http://schemas.microsoft.com/office/drawing/2014/chart" uri="{C3380CC4-5D6E-409C-BE32-E72D297353CC}">
                <c16:uniqueId val="{00000001-4D23-475A-AD22-DD56DC54A7C0}"/>
              </c:ext>
            </c:extLst>
          </c:dPt>
          <c:dPt>
            <c:idx val="1"/>
            <c:bubble3D val="0"/>
            <c:spPr>
              <a:solidFill>
                <a:srgbClr val="C07A2D"/>
              </a:solidFill>
            </c:spPr>
            <c:extLst>
              <c:ext xmlns:c16="http://schemas.microsoft.com/office/drawing/2014/chart" uri="{C3380CC4-5D6E-409C-BE32-E72D297353CC}">
                <c16:uniqueId val="{00000003-4D23-475A-AD22-DD56DC54A7C0}"/>
              </c:ext>
            </c:extLst>
          </c:dPt>
          <c:cat>
            <c:strRef>
              <c:f>Sheet1!$A$2:$A$3</c:f>
              <c:strCache>
                <c:ptCount val="2"/>
                <c:pt idx="0">
                  <c:v>Infrastructure
(recurring)</c:v>
                </c:pt>
                <c:pt idx="1">
                  <c:v>Land &amp;
development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0.57399999999999995</c:v>
                </c:pt>
                <c:pt idx="1">
                  <c:v>0.42599999999999999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D23-475A-AD22-DD56DC54A7C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egendEntry>
        <c:idx val="0"/>
        <c:txPr>
          <a:bodyPr/>
          <a:lstStyle/>
          <a:p>
            <a:pPr>
              <a:defRPr sz="900">
                <a:latin typeface="Arial" panose="020B0604020202020204" pitchFamily="34" charset="0"/>
                <a:cs typeface="Arial" panose="020B0604020202020204" pitchFamily="34" charset="0"/>
              </a:defRPr>
            </a:pPr>
            <a:endParaRPr lang="en-US"/>
          </a:p>
        </c:txPr>
      </c:legendEntry>
      <c:legendEntry>
        <c:idx val="1"/>
        <c:txPr>
          <a:bodyPr/>
          <a:lstStyle/>
          <a:p>
            <a:pPr>
              <a:defRPr sz="900">
                <a:latin typeface="Arial" panose="020B0604020202020204" pitchFamily="34" charset="0"/>
                <a:cs typeface="Arial" panose="020B0604020202020204" pitchFamily="34" charset="0"/>
              </a:defRPr>
            </a:pPr>
            <a:endParaRPr lang="en-US"/>
          </a:p>
        </c:txPr>
      </c:legendEntry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FY2024</c:v>
                </c:pt>
              </c:strCache>
            </c:strRef>
          </c:tx>
          <c:spPr>
            <a:solidFill>
              <a:srgbClr val="6B7A70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Real
estate</c:v>
                </c:pt>
                <c:pt idx="1">
                  <c:v>Power</c:v>
                </c:pt>
                <c:pt idx="2">
                  <c:v>Estate
services</c:v>
                </c:pt>
                <c:pt idx="3">
                  <c:v>Golf</c:v>
                </c:pt>
                <c:pt idx="4">
                  <c:v>Tourism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2573</c:v>
                </c:pt>
                <c:pt idx="1">
                  <c:v>1182</c:v>
                </c:pt>
                <c:pt idx="2">
                  <c:v>780</c:v>
                </c:pt>
                <c:pt idx="3">
                  <c:v>85</c:v>
                </c:pt>
                <c:pt idx="4">
                  <c:v>70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A457-408A-9AC7-594D9053896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FY2025</c:v>
                </c:pt>
              </c:strCache>
            </c:strRef>
          </c:tx>
          <c:spPr>
            <a:solidFill>
              <a:srgbClr val="1F5E40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Real
estate</c:v>
                </c:pt>
                <c:pt idx="1">
                  <c:v>Power</c:v>
                </c:pt>
                <c:pt idx="2">
                  <c:v>Estate
services</c:v>
                </c:pt>
                <c:pt idx="3">
                  <c:v>Golf</c:v>
                </c:pt>
                <c:pt idx="4">
                  <c:v>Tourism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2469</c:v>
                </c:pt>
                <c:pt idx="1">
                  <c:v>1818</c:v>
                </c:pt>
                <c:pt idx="2">
                  <c:v>798</c:v>
                </c:pt>
                <c:pt idx="3">
                  <c:v>83</c:v>
                </c:pt>
                <c:pt idx="4">
                  <c:v>57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A457-408A-9AC7-594D9053896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b"/>
      <c:overlay val="0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Lender mix</c:v>
                </c:pt>
              </c:strCache>
            </c:strRef>
          </c:tx>
          <c:dPt>
            <c:idx val="0"/>
            <c:bubble3D val="0"/>
            <c:spPr>
              <a:solidFill>
                <a:srgbClr val="1F5E40"/>
              </a:solidFill>
            </c:spPr>
            <c:extLst>
              <c:ext xmlns:c16="http://schemas.microsoft.com/office/drawing/2014/chart" uri="{C3380CC4-5D6E-409C-BE32-E72D297353CC}">
                <c16:uniqueId val="{00000001-2EAC-4CC0-AF3D-530C9C89F340}"/>
              </c:ext>
            </c:extLst>
          </c:dPt>
          <c:dPt>
            <c:idx val="1"/>
            <c:bubble3D val="0"/>
            <c:spPr>
              <a:solidFill>
                <a:srgbClr val="C07A2D"/>
              </a:solidFill>
            </c:spPr>
            <c:extLst>
              <c:ext xmlns:c16="http://schemas.microsoft.com/office/drawing/2014/chart" uri="{C3380CC4-5D6E-409C-BE32-E72D297353CC}">
                <c16:uniqueId val="{00000003-2EAC-4CC0-AF3D-530C9C89F340}"/>
              </c:ext>
            </c:extLst>
          </c:dPt>
          <c:dPt>
            <c:idx val="2"/>
            <c:bubble3D val="0"/>
            <c:spPr>
              <a:solidFill>
                <a:srgbClr val="6B7A70"/>
              </a:solidFill>
            </c:spPr>
            <c:extLst>
              <c:ext xmlns:c16="http://schemas.microsoft.com/office/drawing/2014/chart" uri="{C3380CC4-5D6E-409C-BE32-E72D297353CC}">
                <c16:uniqueId val="{00000005-2EAC-4CC0-AF3D-530C9C89F340}"/>
              </c:ext>
            </c:extLst>
          </c:dPt>
          <c:dLbls>
            <c:dLbl>
              <c:idx val="1"/>
              <c:layout>
                <c:manualLayout>
                  <c:x val="-8.1144999999999995E-2"/>
                  <c:y val="6.2042307692307692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2EAC-4CC0-AF3D-530C9C89F340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Bank Mandiri</c:v>
                </c:pt>
                <c:pt idx="1">
                  <c:v>Bank INA</c:v>
                </c:pt>
                <c:pt idx="2">
                  <c:v>Other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0.95299999999999996</c:v>
                </c:pt>
                <c:pt idx="1">
                  <c:v>3.9E-2</c:v>
                </c:pt>
                <c:pt idx="2">
                  <c:v>8.0000000000000002E-3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EAC-4CC0-AF3D-530C9C89F34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0"/>
    <c:plotArea>
      <c:layout/>
      <c:barChart>
        <c:barDir val="col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1H2026 reached</c:v>
                </c:pt>
              </c:strCache>
            </c:strRef>
          </c:tx>
          <c:spPr>
            <a:solidFill>
              <a:srgbClr val="1F5E40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Group</c:v>
                </c:pt>
                <c:pt idx="1">
                  <c:v>Cikarang</c:v>
                </c:pt>
                <c:pt idx="2">
                  <c:v>Kendal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1188</c:v>
                </c:pt>
                <c:pt idx="1">
                  <c:v>340</c:v>
                </c:pt>
                <c:pt idx="2">
                  <c:v>848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6544-4932-AE64-D895D36DE99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H2 remaining</c:v>
                </c:pt>
              </c:strCache>
            </c:strRef>
          </c:tx>
          <c:spPr>
            <a:solidFill>
              <a:srgbClr val="C07A2D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Group</c:v>
                </c:pt>
                <c:pt idx="1">
                  <c:v>Cikarang</c:v>
                </c:pt>
                <c:pt idx="2">
                  <c:v>Kendal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2562</c:v>
                </c:pt>
                <c:pt idx="1">
                  <c:v>910</c:v>
                </c:pt>
                <c:pt idx="2">
                  <c:v>1652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6544-4932-AE64-D895D36DE99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b"/>
      <c:overlay val="0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62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F5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66928" y="841248"/>
            <a:ext cx="1371600" cy="45720"/>
          </a:xfrm>
          <a:prstGeom prst="rect">
            <a:avLst/>
          </a:prstGeom>
          <a:solidFill>
            <a:srgbClr val="C07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66928" y="1042415"/>
            <a:ext cx="9326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DDE8DF"/>
                </a:solidFill>
                <a:latin typeface="Calibri"/>
              </a:rPr>
              <a:t>STRATEGY PAPER FOR THE BOARD  · 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44752"/>
            <a:ext cx="1088136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Jababeka's</a:t>
            </a:r>
          </a:p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Transformation Strategy</a:t>
            </a:r>
          </a:p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2026–2030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400000"/>
            <a:ext cx="905256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DDE8DF"/>
                </a:solidFill>
                <a:latin typeface="Calibri"/>
              </a:rPr>
              <a:t>From an industrial estate developer to a platform for infrastructure, investment,</a:t>
            </a:r>
          </a:p>
          <a:p>
            <a:pPr algn="l"/>
            <a:r>
              <a:rPr sz="1600" b="0">
                <a:solidFill>
                  <a:srgbClr val="DDE8DF"/>
                </a:solidFill>
                <a:latin typeface="Calibri"/>
              </a:rPr>
              <a:t>education, healthcare and innovation in Indonesia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4400000"/>
            <a:ext cx="3621024" cy="1188720"/>
          </a:xfrm>
          <a:prstGeom prst="rect">
            <a:avLst/>
          </a:prstGeom>
          <a:solidFill>
            <a:srgbClr val="1E3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4400000"/>
            <a:ext cx="3621024" cy="41148"/>
          </a:xfrm>
          <a:prstGeom prst="rect">
            <a:avLst/>
          </a:prstGeom>
          <a:solidFill>
            <a:srgbClr val="C07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6928" y="4620000"/>
            <a:ext cx="321868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Seven moves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6928" y="5000000"/>
            <a:ext cx="321868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DE8DF"/>
                </a:solidFill>
                <a:latin typeface="Calibri"/>
              </a:rPr>
              <a:t>the programme, tested against real numbers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34256" y="4400000"/>
            <a:ext cx="3621024" cy="1188720"/>
          </a:xfrm>
          <a:prstGeom prst="rect">
            <a:avLst/>
          </a:prstGeom>
          <a:solidFill>
            <a:srgbClr val="1E3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34256" y="4400000"/>
            <a:ext cx="3621024" cy="41148"/>
          </a:xfrm>
          <a:prstGeom prst="rect">
            <a:avLst/>
          </a:prstGeom>
          <a:solidFill>
            <a:srgbClr val="C07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34256" y="4620000"/>
            <a:ext cx="321868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One mix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4256" y="5000000"/>
            <a:ext cx="321868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DE8DF"/>
                </a:solidFill>
                <a:latin typeface="Calibri"/>
              </a:rPr>
              <a:t>which revenue we grow, and what it does to margin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01584" y="4400000"/>
            <a:ext cx="3621024" cy="1188720"/>
          </a:xfrm>
          <a:prstGeom prst="rect">
            <a:avLst/>
          </a:prstGeom>
          <a:solidFill>
            <a:srgbClr val="1E3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101584" y="4400000"/>
            <a:ext cx="3621024" cy="41148"/>
          </a:xfrm>
          <a:prstGeom prst="rect">
            <a:avLst/>
          </a:prstGeom>
          <a:solidFill>
            <a:srgbClr val="C07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01584" y="4620000"/>
            <a:ext cx="3218688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Pilot phase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1584" y="5000000"/>
            <a:ext cx="321868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DE8DF"/>
                </a:solidFill>
                <a:latin typeface="Calibri"/>
              </a:rPr>
              <a:t>proposed workstreams for Board discussion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327648"/>
            <a:ext cx="110578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6B7A70"/>
                </a:solidFill>
                <a:latin typeface="Calibri"/>
              </a:rPr>
              <a:t>Indicative management proposal for discussion. Targets in this paper are not an official financial forecast.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050000"/>
            <a:ext cx="6000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 dirty="0">
                <a:solidFill>
                  <a:srgbClr val="C07A2D"/>
                </a:solidFill>
                <a:latin typeface="Calibri"/>
              </a:rPr>
              <a:t>CONFIDENTIAL  · INTERNAL USE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F5E40"/>
                </a:solidFill>
                <a:latin typeface="Calibri"/>
              </a:rPr>
              <a:t>1  ·  WHAT THE SURVEY MEANS ONCE WE PUT IT NEXT TO OUR OWN FIGURES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874959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6241C"/>
                </a:solidFill>
                <a:latin typeface="Calibri"/>
              </a:rPr>
              <a:t>Infrastructure now supplies over half of revenue — the pivot is underway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88720"/>
            <a:ext cx="777240" cy="41148"/>
          </a:xfrm>
          <a:prstGeom prst="rect">
            <a:avLst/>
          </a:prstGeom>
          <a:solidFill>
            <a:srgbClr val="C07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344168" y="1188720"/>
            <a:ext cx="10280599" cy="41148"/>
          </a:xfrm>
          <a:prstGeom prst="rect">
            <a:avLst/>
          </a:prstGeom>
          <a:solidFill>
            <a:srgbClr val="E8E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1463040"/>
            <a:ext cx="50292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1F5E40"/>
                </a:solidFill>
                <a:latin typeface="Calibri"/>
              </a:rPr>
              <a:t>WHAT INDUSTRY LEADERS TOLD THE SURVEY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850000"/>
            <a:ext cx="36576" cy="274320"/>
          </a:xfrm>
          <a:prstGeom prst="rect">
            <a:avLst/>
          </a:prstGeom>
          <a:solidFill>
            <a:srgbClr val="1F5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820000"/>
            <a:ext cx="1200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6241C"/>
                </a:solidFill>
                <a:latin typeface="Calibri"/>
              </a:rPr>
              <a:t>82.8%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0000" y="1870000"/>
            <a:ext cx="3500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6241C"/>
                </a:solidFill>
                <a:latin typeface="Calibri"/>
              </a:rPr>
              <a:t>stable or weaker business in the past two years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2410000"/>
            <a:ext cx="36576" cy="274320"/>
          </a:xfrm>
          <a:prstGeom prst="rect">
            <a:avLst/>
          </a:prstGeom>
          <a:solidFill>
            <a:srgbClr val="1F5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2380000"/>
            <a:ext cx="1200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6241C"/>
                </a:solidFill>
                <a:latin typeface="Calibri"/>
              </a:rPr>
              <a:t>75.9%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0000" y="2430000"/>
            <a:ext cx="3500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6241C"/>
                </a:solidFill>
                <a:latin typeface="Calibri"/>
              </a:rPr>
              <a:t>regulatory uncertainty as the main obstacle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970000"/>
            <a:ext cx="36576" cy="274320"/>
          </a:xfrm>
          <a:prstGeom prst="rect">
            <a:avLst/>
          </a:prstGeom>
          <a:solidFill>
            <a:srgbClr val="1F5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2940000"/>
            <a:ext cx="1200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6241C"/>
                </a:solidFill>
                <a:latin typeface="Calibri"/>
              </a:rPr>
              <a:t>72.4%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0000" y="2990000"/>
            <a:ext cx="3500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6241C"/>
                </a:solidFill>
                <a:latin typeface="Calibri"/>
              </a:rPr>
              <a:t>weaker purchasing power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3530000"/>
            <a:ext cx="36576" cy="274320"/>
          </a:xfrm>
          <a:prstGeom prst="rect">
            <a:avLst/>
          </a:prstGeom>
          <a:solidFill>
            <a:srgbClr val="1F5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3500000"/>
            <a:ext cx="1200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6241C"/>
                </a:solidFill>
                <a:latin typeface="Calibri"/>
              </a:rPr>
              <a:t>77.2%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00000" y="3550000"/>
            <a:ext cx="3500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6241C"/>
                </a:solidFill>
                <a:latin typeface="Calibri"/>
              </a:rPr>
              <a:t>running on their own cash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4090000"/>
            <a:ext cx="36576" cy="274320"/>
          </a:xfrm>
          <a:prstGeom prst="rect">
            <a:avLst/>
          </a:prstGeom>
          <a:solidFill>
            <a:srgbClr val="C07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" y="4060000"/>
            <a:ext cx="1200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6241C"/>
                </a:solidFill>
                <a:latin typeface="Calibri"/>
              </a:rPr>
              <a:t>34.5%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00000" y="4110000"/>
            <a:ext cx="35000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6241C"/>
                </a:solidFill>
                <a:latin typeface="Calibri"/>
              </a:rPr>
              <a:t>expect stronger growth in the next 12 months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4900000"/>
            <a:ext cx="50292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B7A70"/>
                </a:solidFill>
                <a:latin typeface="Calibri"/>
              </a:rPr>
              <a:t>A perception survey of association leaders — read as direction, not forecast.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00000" y="1463040"/>
            <a:ext cx="57607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1F5E40"/>
                </a:solidFill>
                <a:latin typeface="Calibri"/>
              </a:rPr>
              <a:t>WHAT OUR OWN FIRST HALF SAYS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14881"/>
              </p:ext>
            </p:extLst>
          </p:nvPr>
        </p:nvGraphicFramePr>
        <p:xfrm>
          <a:off x="5900000" y="1750000"/>
          <a:ext cx="5500000" cy="15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5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IDR bn</a:t>
                      </a:r>
                    </a:p>
                  </a:txBody>
                  <a:tcPr anchor="ctr">
                    <a:solidFill>
                      <a:srgbClr val="1F5E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1H2025</a:t>
                      </a:r>
                    </a:p>
                  </a:txBody>
                  <a:tcPr anchor="ctr">
                    <a:solidFill>
                      <a:srgbClr val="1F5E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dirty="0">
                          <a:solidFill>
                            <a:srgbClr val="FFFFFF"/>
                          </a:solidFill>
                          <a:latin typeface="Calibri"/>
                        </a:rPr>
                        <a:t>1H2026</a:t>
                      </a:r>
                    </a:p>
                  </a:txBody>
                  <a:tcPr anchor="ctr">
                    <a:solidFill>
                      <a:srgbClr val="1F5E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50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6241C"/>
                          </a:solidFill>
                          <a:latin typeface="Calibri"/>
                        </a:rPr>
                        <a:t>Infrastructure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6241C"/>
                          </a:solidFill>
                          <a:latin typeface="Calibri"/>
                        </a:rPr>
                        <a:t>1,221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dirty="0">
                          <a:solidFill>
                            <a:srgbClr val="16241C"/>
                          </a:solidFill>
                          <a:latin typeface="Calibri"/>
                        </a:rPr>
                        <a:t>1,398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50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6241C"/>
                          </a:solidFill>
                          <a:latin typeface="Calibri"/>
                        </a:rPr>
                        <a:t>Land &amp; development</a:t>
                      </a:r>
                    </a:p>
                  </a:txBody>
                  <a:tcPr anchor="ctr"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6241C"/>
                          </a:solidFill>
                          <a:latin typeface="Calibri"/>
                        </a:rPr>
                        <a:t>1,443</a:t>
                      </a:r>
                    </a:p>
                  </a:txBody>
                  <a:tcPr anchor="ctr"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6241C"/>
                          </a:solidFill>
                          <a:latin typeface="Calibri"/>
                        </a:rPr>
                        <a:t>1,038</a:t>
                      </a:r>
                    </a:p>
                  </a:txBody>
                  <a:tcPr anchor="ctr">
                    <a:solidFill>
                      <a:srgbClr val="E8EC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5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16241C"/>
                          </a:solidFill>
                          <a:latin typeface="Calibri"/>
                        </a:rPr>
                        <a:t>Total revenue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dirty="0">
                          <a:solidFill>
                            <a:srgbClr val="16241C"/>
                          </a:solidFill>
                          <a:latin typeface="Calibri"/>
                        </a:rPr>
                        <a:t>2,</a:t>
                      </a:r>
                      <a:r>
                        <a:rPr lang="en-ID" sz="1100" b="1" dirty="0">
                          <a:solidFill>
                            <a:srgbClr val="16241C"/>
                          </a:solidFill>
                          <a:latin typeface="Calibri"/>
                        </a:rPr>
                        <a:t>664</a:t>
                      </a:r>
                      <a:endParaRPr sz="1100" b="1" dirty="0">
                        <a:solidFill>
                          <a:srgbClr val="16241C"/>
                        </a:solidFill>
                        <a:latin typeface="Calibri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dirty="0">
                          <a:solidFill>
                            <a:srgbClr val="16241C"/>
                          </a:solidFill>
                          <a:latin typeface="Calibri"/>
                        </a:rPr>
                        <a:t>2,43</a:t>
                      </a:r>
                      <a:r>
                        <a:rPr lang="en-ID" sz="1100" b="1" dirty="0">
                          <a:solidFill>
                            <a:srgbClr val="16241C"/>
                          </a:solidFill>
                          <a:latin typeface="Calibri"/>
                        </a:rPr>
                        <a:t>6</a:t>
                      </a:r>
                      <a:endParaRPr sz="1100" b="1" dirty="0">
                        <a:solidFill>
                          <a:srgbClr val="16241C"/>
                        </a:solidFill>
                        <a:latin typeface="Calibri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8700000" y="3400000"/>
            <a:ext cx="2800000" cy="175432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dirty="0">
                <a:solidFill>
                  <a:srgbClr val="16241C"/>
                </a:solidFill>
                <a:latin typeface="Calibri"/>
              </a:rPr>
              <a:t>Infrastructure share</a:t>
            </a:r>
          </a:p>
          <a:p>
            <a:pPr algn="l"/>
            <a:r>
              <a:rPr sz="1200" b="0" dirty="0">
                <a:solidFill>
                  <a:srgbClr val="16241C"/>
                </a:solidFill>
                <a:latin typeface="Calibri"/>
              </a:rPr>
              <a:t>of revenue:</a:t>
            </a:r>
          </a:p>
          <a:p>
            <a:pPr algn="l"/>
            <a:endParaRPr sz="1200" b="0" dirty="0">
              <a:solidFill>
                <a:srgbClr val="16241C"/>
              </a:solidFill>
              <a:latin typeface="Calibri"/>
            </a:endParaRPr>
          </a:p>
          <a:p>
            <a:pPr algn="l"/>
            <a:r>
              <a:rPr sz="1200" b="0" dirty="0">
                <a:solidFill>
                  <a:srgbClr val="16241C"/>
                </a:solidFill>
                <a:latin typeface="Calibri"/>
              </a:rPr>
              <a:t>4</a:t>
            </a:r>
            <a:r>
              <a:rPr lang="en-ID" sz="1200" b="0" dirty="0">
                <a:solidFill>
                  <a:srgbClr val="16241C"/>
                </a:solidFill>
                <a:latin typeface="Calibri"/>
              </a:rPr>
              <a:t>5</a:t>
            </a:r>
            <a:r>
              <a:rPr sz="1200" b="0" dirty="0">
                <a:solidFill>
                  <a:srgbClr val="16241C"/>
                </a:solidFill>
                <a:latin typeface="Calibri"/>
              </a:rPr>
              <a:t>.8%  (1H25)</a:t>
            </a:r>
          </a:p>
          <a:p>
            <a:pPr algn="l"/>
            <a:r>
              <a:rPr sz="1200" b="0" dirty="0">
                <a:solidFill>
                  <a:srgbClr val="16241C"/>
                </a:solidFill>
                <a:latin typeface="Calibri"/>
              </a:rPr>
              <a:t>→  57.4%  (1H26)</a:t>
            </a:r>
          </a:p>
          <a:p>
            <a:pPr algn="l"/>
            <a:endParaRPr sz="1200" b="0" dirty="0">
              <a:solidFill>
                <a:srgbClr val="16241C"/>
              </a:solidFill>
              <a:latin typeface="Calibri"/>
            </a:endParaRPr>
          </a:p>
          <a:p>
            <a:pPr algn="l"/>
            <a:r>
              <a:rPr sz="1200" b="0" dirty="0">
                <a:solidFill>
                  <a:srgbClr val="16241C"/>
                </a:solidFill>
                <a:latin typeface="Calibri"/>
              </a:rPr>
              <a:t>+Rp177 bn recurring</a:t>
            </a:r>
          </a:p>
          <a:p>
            <a:pPr algn="l"/>
            <a:r>
              <a:rPr sz="1200" b="0" dirty="0">
                <a:solidFill>
                  <a:srgbClr val="16241C"/>
                </a:solidFill>
                <a:latin typeface="Calibri"/>
              </a:rPr>
              <a:t>−Rp405 bn land</a:t>
            </a:r>
          </a:p>
          <a:p>
            <a:pPr algn="l"/>
            <a:r>
              <a:rPr sz="1200" b="0" dirty="0">
                <a:solidFill>
                  <a:srgbClr val="16241C"/>
                </a:solidFill>
                <a:latin typeface="Calibri"/>
              </a:rPr>
              <a:t>Net: −Rp2</a:t>
            </a:r>
            <a:r>
              <a:rPr lang="en-ID" sz="1200" dirty="0">
                <a:solidFill>
                  <a:srgbClr val="16241C"/>
                </a:solidFill>
                <a:latin typeface="Calibri"/>
              </a:rPr>
              <a:t>28</a:t>
            </a:r>
            <a:r>
              <a:rPr sz="1200" b="0" dirty="0">
                <a:solidFill>
                  <a:srgbClr val="16241C"/>
                </a:solidFill>
                <a:latin typeface="Calibri"/>
              </a:rPr>
              <a:t> bn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5600000"/>
            <a:ext cx="11057839" cy="700000"/>
          </a:xfrm>
          <a:prstGeom prst="rect">
            <a:avLst/>
          </a:prstGeom>
          <a:solidFill>
            <a:srgbClr val="162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00000" y="5700000"/>
            <a:ext cx="105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The next four years are about converting 2,000+ existing tenants into recurring revenue, and managing the margin mix between recurring services and land sales.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01807" y="6419088"/>
            <a:ext cx="8229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B7A70"/>
                </a:solidFill>
                <a:latin typeface="Calibri"/>
              </a:rPr>
              <a:t>2 / 13</a:t>
            </a:r>
          </a:p>
        </p:txBody>
      </p:sp>
      <p:graphicFrame>
        <p:nvGraphicFramePr>
          <p:cNvPr id="32" name="Chart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8158214"/>
              </p:ext>
            </p:extLst>
          </p:nvPr>
        </p:nvGraphicFramePr>
        <p:xfrm>
          <a:off x="5900000" y="3300000"/>
          <a:ext cx="2400000" cy="23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dirty="0">
                <a:solidFill>
                  <a:srgbClr val="1F5E40"/>
                </a:solidFill>
                <a:latin typeface="Calibri"/>
              </a:rPr>
              <a:t>2  ·  THE PAPER’S </a:t>
            </a:r>
            <a:r>
              <a:rPr lang="en-ID" sz="1000" b="1" dirty="0">
                <a:solidFill>
                  <a:srgbClr val="1F5E40"/>
                </a:solidFill>
                <a:latin typeface="Calibri"/>
              </a:rPr>
              <a:t>PROGRAMME, STRATEGIC CAPABILITIES TO BUILD</a:t>
            </a:r>
            <a:endParaRPr sz="1000" b="1" dirty="0">
              <a:solidFill>
                <a:srgbClr val="1F5E40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874959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6241C"/>
                </a:solidFill>
                <a:latin typeface="Calibri"/>
              </a:rPr>
              <a:t>Seven moves, and what each one asks us to build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88720"/>
            <a:ext cx="777240" cy="41148"/>
          </a:xfrm>
          <a:prstGeom prst="rect">
            <a:avLst/>
          </a:prstGeom>
          <a:solidFill>
            <a:srgbClr val="C07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344168" y="1188720"/>
            <a:ext cx="10280599" cy="41148"/>
          </a:xfrm>
          <a:prstGeom prst="rect">
            <a:avLst/>
          </a:prstGeom>
          <a:solidFill>
            <a:srgbClr val="E8E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4219360"/>
              </p:ext>
            </p:extLst>
          </p:nvPr>
        </p:nvGraphicFramePr>
        <p:xfrm>
          <a:off x="566928" y="1450000"/>
          <a:ext cx="11057839" cy="42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578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5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The move</a:t>
                      </a:r>
                    </a:p>
                  </a:txBody>
                  <a:tcPr anchor="ctr">
                    <a:solidFill>
                      <a:srgbClr val="1F5E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What it asks us to build that we do not have</a:t>
                      </a:r>
                    </a:p>
                  </a:txBody>
                  <a:tcPr anchor="ctr">
                    <a:solidFill>
                      <a:srgbClr val="1F5E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dirty="0">
                          <a:solidFill>
                            <a:srgbClr val="FFFFFF"/>
                          </a:solidFill>
                          <a:latin typeface="Calibri"/>
                        </a:rPr>
                        <a:t>Proposed first step</a:t>
                      </a:r>
                    </a:p>
                  </a:txBody>
                  <a:tcPr anchor="ctr">
                    <a:solidFill>
                      <a:srgbClr val="1F5E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50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241C"/>
                          </a:solidFill>
                          <a:latin typeface="Calibri"/>
                        </a:rPr>
                        <a:t>1  Tenants first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241C"/>
                          </a:solidFill>
                          <a:latin typeface="Calibri"/>
                        </a:rPr>
                        <a:t>A single view of each tenant: utility usage, complaints, expansion plans.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dirty="0">
                          <a:solidFill>
                            <a:srgbClr val="16241C"/>
                          </a:solidFill>
                          <a:latin typeface="Calibri"/>
                        </a:rPr>
                        <a:t>Open a tenant account register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50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241C"/>
                          </a:solidFill>
                          <a:latin typeface="Calibri"/>
                        </a:rPr>
                        <a:t>2  More recurring income</a:t>
                      </a:r>
                    </a:p>
                  </a:txBody>
                  <a:tcPr anchor="ctr"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241C"/>
                          </a:solidFill>
                          <a:latin typeface="Calibri"/>
                        </a:rPr>
                        <a:t>A published price list for services, plus contracted power projects rather than ad-hoc selling.</a:t>
                      </a:r>
                    </a:p>
                  </a:txBody>
                  <a:tcPr anchor="ctr"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dirty="0">
                          <a:solidFill>
                            <a:srgbClr val="16241C"/>
                          </a:solidFill>
                          <a:latin typeface="Calibri"/>
                        </a:rPr>
                        <a:t>Publish service prices; explore power projects</a:t>
                      </a:r>
                    </a:p>
                  </a:txBody>
                  <a:tcPr anchor="ctr">
                    <a:solidFill>
                      <a:srgbClr val="E8EC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50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241C"/>
                          </a:solidFill>
                          <a:latin typeface="Calibri"/>
                        </a:rPr>
                        <a:t>3  Education and health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241C"/>
                          </a:solidFill>
                          <a:latin typeface="Calibri"/>
                        </a:rPr>
                        <a:t>One cooperation agreement with President University, FKPU and PURTH: defined services, prices, one counterpart.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dirty="0">
                          <a:solidFill>
                            <a:srgbClr val="16241C"/>
                          </a:solidFill>
                          <a:latin typeface="Calibri"/>
                        </a:rPr>
                        <a:t>List services; sign a cooperation agreement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50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241C"/>
                          </a:solidFill>
                          <a:latin typeface="Calibri"/>
                        </a:rPr>
                        <a:t>4  Selective foreign investment</a:t>
                      </a:r>
                    </a:p>
                  </a:txBody>
                  <a:tcPr anchor="ctr"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241C"/>
                          </a:solidFill>
                          <a:latin typeface="Calibri"/>
                        </a:rPr>
                        <a:t>One offer sheet combining land, utilities, permits and workforce.</a:t>
                      </a:r>
                    </a:p>
                  </a:txBody>
                  <a:tcPr anchor="ctr"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dirty="0">
                          <a:solidFill>
                            <a:srgbClr val="16241C"/>
                          </a:solidFill>
                          <a:latin typeface="Calibri"/>
                        </a:rPr>
                        <a:t>Build the offer sheet; test on live deals</a:t>
                      </a:r>
                    </a:p>
                  </a:txBody>
                  <a:tcPr anchor="ctr">
                    <a:solidFill>
                      <a:srgbClr val="E8EC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50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241C"/>
                          </a:solidFill>
                          <a:latin typeface="Calibri"/>
                        </a:rPr>
                        <a:t>5  A green Cikarang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241C"/>
                          </a:solidFill>
                          <a:latin typeface="Calibri"/>
                        </a:rPr>
                        <a:t>A standing working group with the regency and the seven estates.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dirty="0">
                          <a:solidFill>
                            <a:srgbClr val="16241C"/>
                          </a:solidFill>
                          <a:latin typeface="Calibri"/>
                        </a:rPr>
                        <a:t>Convene the group; discuss shared issues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50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241C"/>
                          </a:solidFill>
                          <a:latin typeface="Calibri"/>
                        </a:rPr>
                        <a:t>6  A financing platform</a:t>
                      </a:r>
                    </a:p>
                  </a:txBody>
                  <a:tcPr anchor="ctr"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241C"/>
                          </a:solidFill>
                          <a:latin typeface="Calibri"/>
                        </a:rPr>
                        <a:t>Funding beyond senior bank loans. Today nearly all debt is with one bank.</a:t>
                      </a:r>
                    </a:p>
                  </a:txBody>
                  <a:tcPr anchor="ctr"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dirty="0">
                          <a:solidFill>
                            <a:srgbClr val="16241C"/>
                          </a:solidFill>
                          <a:latin typeface="Calibri"/>
                        </a:rPr>
                        <a:t>Explore project-finance alternatives</a:t>
                      </a:r>
                    </a:p>
                  </a:txBody>
                  <a:tcPr anchor="ctr">
                    <a:solidFill>
                      <a:srgbClr val="E8EC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50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6241C"/>
                          </a:solidFill>
                          <a:latin typeface="Calibri"/>
                        </a:rPr>
                        <a:t>7  Staged expansion (100 Cities)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241C"/>
                          </a:solidFill>
                          <a:latin typeface="Calibri"/>
                        </a:rPr>
                        <a:t>Clear rules on when capital is released, so new areas are funded by confirmed demand.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dirty="0">
                          <a:solidFill>
                            <a:srgbClr val="16241C"/>
                          </a:solidFill>
                          <a:latin typeface="Calibri"/>
                        </a:rPr>
                        <a:t>Agree release rules with the JV partner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5800000"/>
            <a:ext cx="11057839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B7A70"/>
                </a:solidFill>
                <a:latin typeface="Calibri"/>
              </a:rPr>
              <a:t>Each move requires a product, contract or rule we do not have today. Building those is the work.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01807" y="6419088"/>
            <a:ext cx="8229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B7A70"/>
                </a:solidFill>
                <a:latin typeface="Calibri"/>
              </a:rPr>
              <a:t>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F5E40"/>
                </a:solidFill>
                <a:latin typeface="Calibri"/>
              </a:rPr>
              <a:t>3  ·  MOVES 1 AND 2, IN SEGMENT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874959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6241C"/>
                </a:solidFill>
                <a:latin typeface="Calibri"/>
              </a:rPr>
              <a:t>The margin trade-off: recurring revenue grows at a lower margin than land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88720"/>
            <a:ext cx="777240" cy="41148"/>
          </a:xfrm>
          <a:prstGeom prst="rect">
            <a:avLst/>
          </a:prstGeom>
          <a:solidFill>
            <a:srgbClr val="C07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344168" y="1188720"/>
            <a:ext cx="10280599" cy="41148"/>
          </a:xfrm>
          <a:prstGeom prst="rect">
            <a:avLst/>
          </a:prstGeom>
          <a:solidFill>
            <a:srgbClr val="E8E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4600000"/>
            <a:ext cx="65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>
                <a:solidFill>
                  <a:srgbClr val="6B7A70"/>
                </a:solidFill>
                <a:latin typeface="Calibri"/>
              </a:rPr>
              <a:t>Revenue by segment, IDR bn (audited). Power grew 54%; real estate declined 4%.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00000" y="1450000"/>
            <a:ext cx="43000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1F5E40"/>
                </a:solidFill>
                <a:latin typeface="Calibri"/>
              </a:rPr>
              <a:t>WHAT THE NUMBERS ADD 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00000" y="1750000"/>
            <a:ext cx="4300000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just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srgbClr val="16241C"/>
                </a:solidFill>
                <a:latin typeface="Calibri"/>
              </a:rPr>
              <a:t>Power</a:t>
            </a:r>
            <a:r>
              <a:rPr sz="1200" dirty="0">
                <a:solidFill>
                  <a:srgbClr val="16241C"/>
                </a:solidFill>
                <a:latin typeface="Calibri"/>
              </a:rPr>
              <a:t> revenue rose Rp6</a:t>
            </a:r>
            <a:r>
              <a:rPr lang="en-ID" sz="1200" dirty="0">
                <a:solidFill>
                  <a:srgbClr val="16241C"/>
                </a:solidFill>
                <a:latin typeface="Calibri"/>
              </a:rPr>
              <a:t>36</a:t>
            </a:r>
            <a:r>
              <a:rPr sz="1200" dirty="0">
                <a:solidFill>
                  <a:srgbClr val="16241C"/>
                </a:solidFill>
                <a:latin typeface="Calibri"/>
              </a:rPr>
              <a:t> bn in one year; land revenue declined Rp10</a:t>
            </a:r>
            <a:r>
              <a:rPr lang="en-ID" sz="1200" dirty="0">
                <a:solidFill>
                  <a:srgbClr val="16241C"/>
                </a:solidFill>
                <a:latin typeface="Calibri"/>
              </a:rPr>
              <a:t>4</a:t>
            </a:r>
            <a:r>
              <a:rPr sz="1200" dirty="0">
                <a:solidFill>
                  <a:srgbClr val="16241C"/>
                </a:solidFill>
                <a:latin typeface="Calibri"/>
              </a:rPr>
              <a:t> bn.</a:t>
            </a:r>
          </a:p>
          <a:p>
            <a:pPr marL="171450" indent="-171450" algn="just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sz="1200" dirty="0">
                <a:solidFill>
                  <a:srgbClr val="16241C"/>
                </a:solidFill>
                <a:latin typeface="Calibri"/>
              </a:rPr>
              <a:t>Land carries a higher gross margin than power; the mix therefore needs to be managed deliberately rather than left to drift.</a:t>
            </a:r>
          </a:p>
          <a:p>
            <a:pPr marL="171450" indent="-171450" algn="just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sz="1200" dirty="0">
                <a:solidFill>
                  <a:srgbClr val="16241C"/>
                </a:solidFill>
                <a:latin typeface="Calibri"/>
              </a:rPr>
              <a:t>Services and maintenance, at a mid-40s gross margin, are the natural bridge — they grow with the tenant </a:t>
            </a:r>
            <a:r>
              <a:rPr sz="1200" dirty="0" err="1">
                <a:solidFill>
                  <a:srgbClr val="16241C"/>
                </a:solidFill>
                <a:latin typeface="Calibri"/>
              </a:rPr>
              <a:t>programme</a:t>
            </a:r>
            <a:r>
              <a:rPr sz="1200" dirty="0">
                <a:solidFill>
                  <a:srgbClr val="16241C"/>
                </a:solidFill>
                <a:latin typeface="Calibri"/>
              </a:rPr>
              <a:t> and require no new land.</a:t>
            </a:r>
          </a:p>
          <a:p>
            <a:pPr marL="171450" indent="-171450" algn="just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sz="1200" dirty="0">
                <a:solidFill>
                  <a:srgbClr val="16241C"/>
                </a:solidFill>
                <a:latin typeface="Calibri"/>
              </a:rPr>
              <a:t>Power contributes contracted EBITDA and cash visibility; its role is durability rather than peak margin.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4900000"/>
            <a:ext cx="11057839" cy="1100000"/>
          </a:xfrm>
          <a:prstGeom prst="rect">
            <a:avLst/>
          </a:prstGeom>
          <a:solidFill>
            <a:srgbClr val="E8E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0000" y="5000000"/>
            <a:ext cx="105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1F5E40"/>
                </a:solidFill>
                <a:latin typeface="Calibri"/>
              </a:rPr>
              <a:t>SO THE MIX HAS TO BE CHOSEN, NOT DRIFTED INTO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" y="5300000"/>
            <a:ext cx="10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>
                <a:solidFill>
                  <a:srgbClr val="16241C"/>
                </a:solidFill>
                <a:latin typeface="Calibri"/>
              </a:rPr>
              <a:t>—  Grow recurring revenue where margin holds: services first, then contracted power volume.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6241C"/>
                </a:solidFill>
                <a:latin typeface="Calibri"/>
              </a:rPr>
              <a:t>—  Services sold to tenants already in the estate — no new land, no new capex.  Keep the land we do sell at Cikarang-grade prices.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01807" y="6419088"/>
            <a:ext cx="8229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B7A70"/>
                </a:solidFill>
                <a:latin typeface="Calibri"/>
              </a:rPr>
              <a:t>4 / 13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566928" y="1450000"/>
          <a:ext cx="6500000" cy="32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F5E40"/>
                </a:solidFill>
                <a:latin typeface="Calibri"/>
              </a:rPr>
              <a:t>4  ·  MOVE 3 AND MOVE 5, IN OPERATING TERMS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874959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6241C"/>
                </a:solidFill>
                <a:latin typeface="Calibri"/>
              </a:rPr>
              <a:t>Education, healthcare and the working city: services we can sell to tenants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88720"/>
            <a:ext cx="777240" cy="41148"/>
          </a:xfrm>
          <a:prstGeom prst="rect">
            <a:avLst/>
          </a:prstGeom>
          <a:solidFill>
            <a:srgbClr val="C07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344168" y="1188720"/>
            <a:ext cx="10280599" cy="41148"/>
          </a:xfrm>
          <a:prstGeom prst="rect">
            <a:avLst/>
          </a:prstGeom>
          <a:solidFill>
            <a:srgbClr val="E8E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66928" y="1450000"/>
            <a:ext cx="3520440" cy="3700000"/>
          </a:xfrm>
          <a:prstGeom prst="rect">
            <a:avLst/>
          </a:prstGeom>
          <a:solidFill>
            <a:srgbClr val="E8E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66928" y="1450000"/>
            <a:ext cx="3520440" cy="45720"/>
          </a:xfrm>
          <a:prstGeom prst="rect">
            <a:avLst/>
          </a:prstGeom>
          <a:solidFill>
            <a:srgbClr val="1F5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6928" y="1650000"/>
            <a:ext cx="311810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6241C"/>
                </a:solidFill>
                <a:latin typeface="Calibri"/>
              </a:rPr>
              <a:t>What we already hold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6928" y="2100000"/>
            <a:ext cx="3118104" cy="14875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just">
              <a:spcAft>
                <a:spcPts val="400"/>
              </a:spcAft>
              <a:buFont typeface="Wingdings" panose="05000000000000000000" pitchFamily="2" charset="2"/>
              <a:buChar char="Ø"/>
            </a:pPr>
            <a:r>
              <a:rPr sz="1200" dirty="0">
                <a:solidFill>
                  <a:srgbClr val="16241C"/>
                </a:solidFill>
                <a:latin typeface="Calibri"/>
              </a:rPr>
              <a:t>President University, FKPU and PURTH are inside the estate.</a:t>
            </a:r>
          </a:p>
          <a:p>
            <a:pPr marL="171450" indent="-171450" algn="just">
              <a:spcAft>
                <a:spcPts val="400"/>
              </a:spcAft>
              <a:buFont typeface="Wingdings" panose="05000000000000000000" pitchFamily="2" charset="2"/>
              <a:buChar char="Ø"/>
            </a:pPr>
            <a:r>
              <a:rPr sz="1200" dirty="0">
                <a:solidFill>
                  <a:srgbClr val="16241C"/>
                </a:solidFill>
                <a:latin typeface="Calibri"/>
              </a:rPr>
              <a:t>More than 2,000 companies inside the estate need worker training and healthcare every day.</a:t>
            </a:r>
          </a:p>
          <a:p>
            <a:pPr marL="171450" indent="-171450" algn="just">
              <a:spcAft>
                <a:spcPts val="400"/>
              </a:spcAft>
              <a:buFont typeface="Wingdings" panose="05000000000000000000" pitchFamily="2" charset="2"/>
              <a:buChar char="Ø"/>
            </a:pPr>
            <a:r>
              <a:rPr sz="1200" dirty="0">
                <a:solidFill>
                  <a:srgbClr val="16241C"/>
                </a:solidFill>
                <a:latin typeface="Calibri"/>
              </a:rPr>
              <a:t>YPUP and its schools, which remain independent.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34256" y="1450000"/>
            <a:ext cx="3520440" cy="3700000"/>
          </a:xfrm>
          <a:prstGeom prst="rect">
            <a:avLst/>
          </a:prstGeom>
          <a:solidFill>
            <a:srgbClr val="E8E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34256" y="1450000"/>
            <a:ext cx="3520440" cy="45720"/>
          </a:xfrm>
          <a:prstGeom prst="rect">
            <a:avLst/>
          </a:prstGeom>
          <a:solidFill>
            <a:srgbClr val="1F5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34256" y="1650000"/>
            <a:ext cx="311810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6241C"/>
                </a:solidFill>
                <a:latin typeface="Calibri"/>
              </a:rPr>
              <a:t>What a tenant will pay for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4256" y="2100000"/>
            <a:ext cx="3118104" cy="17235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just">
              <a:spcAft>
                <a:spcPts val="400"/>
              </a:spcAft>
              <a:buFont typeface="Wingdings" panose="05000000000000000000" pitchFamily="2" charset="2"/>
              <a:buChar char="Ø"/>
            </a:pPr>
            <a:r>
              <a:rPr sz="1200" dirty="0">
                <a:solidFill>
                  <a:srgbClr val="16241C"/>
                </a:solidFill>
                <a:latin typeface="Calibri"/>
              </a:rPr>
              <a:t>Certified operator and technician training, on the plant’s shift pattern.</a:t>
            </a:r>
          </a:p>
          <a:p>
            <a:pPr marL="171450" indent="-171450" algn="just">
              <a:spcAft>
                <a:spcPts val="400"/>
              </a:spcAft>
              <a:buFont typeface="Wingdings" panose="05000000000000000000" pitchFamily="2" charset="2"/>
              <a:buChar char="Ø"/>
            </a:pPr>
            <a:r>
              <a:rPr sz="1200" dirty="0">
                <a:solidFill>
                  <a:srgbClr val="16241C"/>
                </a:solidFill>
                <a:latin typeface="Calibri"/>
              </a:rPr>
              <a:t>Occupational health: medical checks, on-site clinic, emergency response.</a:t>
            </a:r>
          </a:p>
          <a:p>
            <a:pPr marL="171450" indent="-171450" algn="just">
              <a:spcAft>
                <a:spcPts val="400"/>
              </a:spcAft>
              <a:buFont typeface="Wingdings" panose="05000000000000000000" pitchFamily="2" charset="2"/>
              <a:buChar char="Ø"/>
            </a:pPr>
            <a:r>
              <a:rPr sz="1200" dirty="0">
                <a:solidFill>
                  <a:srgbClr val="16241C"/>
                </a:solidFill>
                <a:latin typeface="Calibri"/>
              </a:rPr>
              <a:t>Testing and applied research for product and process problems.</a:t>
            </a:r>
          </a:p>
          <a:p>
            <a:pPr marL="171450" indent="-171450" algn="just">
              <a:spcAft>
                <a:spcPts val="400"/>
              </a:spcAft>
              <a:buFont typeface="Wingdings" panose="05000000000000000000" pitchFamily="2" charset="2"/>
              <a:buChar char="Ø"/>
            </a:pPr>
            <a:r>
              <a:rPr sz="1200" dirty="0">
                <a:solidFill>
                  <a:srgbClr val="16241C"/>
                </a:solidFill>
                <a:latin typeface="Calibri"/>
              </a:rPr>
              <a:t>International-standard care for expatriate staff and families.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01584" y="1450000"/>
            <a:ext cx="3520440" cy="3700000"/>
          </a:xfrm>
          <a:prstGeom prst="rect">
            <a:avLst/>
          </a:prstGeom>
          <a:solidFill>
            <a:srgbClr val="E8E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01584" y="1450000"/>
            <a:ext cx="3520440" cy="45720"/>
          </a:xfrm>
          <a:prstGeom prst="rect">
            <a:avLst/>
          </a:prstGeom>
          <a:solidFill>
            <a:srgbClr val="C07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01584" y="1650000"/>
            <a:ext cx="311810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6241C"/>
                </a:solidFill>
                <a:latin typeface="Calibri"/>
              </a:rPr>
              <a:t>What we propose to 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1584" y="2100000"/>
            <a:ext cx="3118104" cy="14875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just">
              <a:spcAft>
                <a:spcPts val="400"/>
              </a:spcAft>
              <a:buFont typeface="Wingdings" panose="05000000000000000000" pitchFamily="2" charset="2"/>
              <a:buChar char="Ø"/>
            </a:pPr>
            <a:r>
              <a:rPr sz="1200" dirty="0">
                <a:solidFill>
                  <a:srgbClr val="16241C"/>
                </a:solidFill>
                <a:latin typeface="Calibri"/>
              </a:rPr>
              <a:t>Sign a Cooperation Agreement with the three institutions: list services, set prices, name one counterpart.</a:t>
            </a:r>
          </a:p>
          <a:p>
            <a:pPr marL="171450" indent="-171450" algn="just">
              <a:spcAft>
                <a:spcPts val="400"/>
              </a:spcAft>
              <a:buFont typeface="Wingdings" panose="05000000000000000000" pitchFamily="2" charset="2"/>
              <a:buChar char="Ø"/>
            </a:pPr>
            <a:r>
              <a:rPr sz="1200" dirty="0">
                <a:solidFill>
                  <a:srgbClr val="16241C"/>
                </a:solidFill>
                <a:latin typeface="Calibri"/>
              </a:rPr>
              <a:t>Pilot with a group of tenants in </a:t>
            </a:r>
            <a:r>
              <a:rPr sz="1200" dirty="0" err="1">
                <a:solidFill>
                  <a:srgbClr val="16241C"/>
                </a:solidFill>
                <a:latin typeface="Calibri"/>
              </a:rPr>
              <a:t>Cikarang</a:t>
            </a:r>
            <a:r>
              <a:rPr sz="1200" dirty="0">
                <a:solidFill>
                  <a:srgbClr val="16241C"/>
                </a:solidFill>
                <a:latin typeface="Calibri"/>
              </a:rPr>
              <a:t>.</a:t>
            </a:r>
          </a:p>
          <a:p>
            <a:pPr marL="171450" indent="-171450" algn="just">
              <a:spcAft>
                <a:spcPts val="400"/>
              </a:spcAft>
              <a:buFont typeface="Wingdings" panose="05000000000000000000" pitchFamily="2" charset="2"/>
              <a:buChar char="Ø"/>
            </a:pPr>
            <a:r>
              <a:rPr sz="1200" dirty="0">
                <a:solidFill>
                  <a:srgbClr val="16241C"/>
                </a:solidFill>
                <a:latin typeface="Calibri"/>
              </a:rPr>
              <a:t>Convene a standing green-city group with the regency and the seven estates on transport, flooding, sanitation and schools.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5400000"/>
            <a:ext cx="11057839" cy="700000"/>
          </a:xfrm>
          <a:prstGeom prst="rect">
            <a:avLst/>
          </a:prstGeom>
          <a:solidFill>
            <a:srgbClr val="162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0000" y="5480000"/>
            <a:ext cx="105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0">
                <a:solidFill>
                  <a:srgbClr val="FFFFFF"/>
                </a:solidFill>
                <a:latin typeface="Calibri"/>
              </a:rPr>
              <a:t>A company comes for land, a permit and power. It stays for its workers’ skills and healthcare. Those are billable, and no other estate in the corridor sells them as a package.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01807" y="6419088"/>
            <a:ext cx="8229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B7A70"/>
                </a:solidFill>
                <a:latin typeface="Calibri"/>
              </a:rPr>
              <a:t>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F5E40"/>
                </a:solidFill>
                <a:latin typeface="Calibri"/>
              </a:rPr>
              <a:t>5  ·  MOVE 6, AGAINST THE BALANCE SHEET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874959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6241C"/>
                </a:solidFill>
                <a:latin typeface="Calibri"/>
              </a:rPr>
              <a:t>Balance sheet: we have debt capacity — what we lack is funding diversification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88720"/>
            <a:ext cx="777240" cy="41148"/>
          </a:xfrm>
          <a:prstGeom prst="rect">
            <a:avLst/>
          </a:prstGeom>
          <a:solidFill>
            <a:srgbClr val="C07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344168" y="1188720"/>
            <a:ext cx="10280599" cy="41148"/>
          </a:xfrm>
          <a:prstGeom prst="rect">
            <a:avLst/>
          </a:prstGeom>
          <a:solidFill>
            <a:srgbClr val="E8E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29982" y="1450000"/>
            <a:ext cx="2788920" cy="1150000"/>
          </a:xfrm>
          <a:prstGeom prst="rect">
            <a:avLst/>
          </a:prstGeom>
          <a:solidFill>
            <a:srgbClr val="E8E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29982" y="1450000"/>
            <a:ext cx="45720" cy="1150000"/>
          </a:xfrm>
          <a:prstGeom prst="rect">
            <a:avLst/>
          </a:prstGeom>
          <a:solidFill>
            <a:srgbClr val="1F5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29982" y="1550000"/>
            <a:ext cx="24000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B7A70"/>
                </a:solidFill>
                <a:latin typeface="Calibri"/>
              </a:rPr>
              <a:t>TOTAL DEBT, 30 JUN 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9982" y="1780000"/>
            <a:ext cx="24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6241C"/>
                </a:solidFill>
                <a:latin typeface="Calibri"/>
              </a:rPr>
              <a:t>4,863 bn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9982" y="2250000"/>
            <a:ext cx="24000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B7A70"/>
                </a:solidFill>
                <a:latin typeface="Calibri"/>
              </a:rPr>
              <a:t>excl. leases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33802" y="1450000"/>
            <a:ext cx="2788920" cy="1150000"/>
          </a:xfrm>
          <a:prstGeom prst="rect">
            <a:avLst/>
          </a:prstGeom>
          <a:solidFill>
            <a:srgbClr val="E8E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433802" y="1450000"/>
            <a:ext cx="45720" cy="1150000"/>
          </a:xfrm>
          <a:prstGeom prst="rect">
            <a:avLst/>
          </a:prstGeom>
          <a:solidFill>
            <a:srgbClr val="1F5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33802" y="1550000"/>
            <a:ext cx="24000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B7A70"/>
                </a:solidFill>
                <a:latin typeface="Calibri"/>
              </a:rPr>
              <a:t>CASH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3802" y="1780000"/>
            <a:ext cx="24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6241C"/>
                </a:solidFill>
                <a:latin typeface="Calibri"/>
              </a:rPr>
              <a:t>3,205 bn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3802" y="2250000"/>
            <a:ext cx="24000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B7A70"/>
                </a:solidFill>
                <a:latin typeface="Calibri"/>
              </a:rPr>
              <a:t>30 Jun 2026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37622" y="1450000"/>
            <a:ext cx="2788920" cy="1150000"/>
          </a:xfrm>
          <a:prstGeom prst="rect">
            <a:avLst/>
          </a:prstGeom>
          <a:solidFill>
            <a:srgbClr val="E8E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37622" y="1450000"/>
            <a:ext cx="45720" cy="1150000"/>
          </a:xfrm>
          <a:prstGeom prst="rect">
            <a:avLst/>
          </a:prstGeom>
          <a:solidFill>
            <a:srgbClr val="1F5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37622" y="1550000"/>
            <a:ext cx="24000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B7A70"/>
                </a:solidFill>
                <a:latin typeface="Calibri"/>
              </a:rPr>
              <a:t>NET DEBT / EBITDA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622" y="1780000"/>
            <a:ext cx="24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6241C"/>
                </a:solidFill>
                <a:latin typeface="Calibri"/>
              </a:rPr>
              <a:t>0.6  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622" y="2250000"/>
            <a:ext cx="24000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B7A70"/>
                </a:solidFill>
                <a:latin typeface="Calibri"/>
              </a:rPr>
              <a:t>FY2025 basis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241442" y="1450000"/>
            <a:ext cx="2788920" cy="1150000"/>
          </a:xfrm>
          <a:prstGeom prst="rect">
            <a:avLst/>
          </a:prstGeom>
          <a:solidFill>
            <a:srgbClr val="E8E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241442" y="1450000"/>
            <a:ext cx="45720" cy="1150000"/>
          </a:xfrm>
          <a:prstGeom prst="rect">
            <a:avLst/>
          </a:prstGeom>
          <a:solidFill>
            <a:srgbClr val="1F5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441442" y="1550000"/>
            <a:ext cx="24000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6B7A70"/>
                </a:solidFill>
                <a:latin typeface="Calibri"/>
              </a:rPr>
              <a:t>AVG COST OF DEBT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41442" y="1780000"/>
            <a:ext cx="24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6241C"/>
                </a:solidFill>
                <a:latin typeface="Calibri"/>
              </a:rPr>
              <a:t>7.16 %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41442" y="2250000"/>
            <a:ext cx="24000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6B7A70"/>
                </a:solidFill>
                <a:latin typeface="Calibri"/>
              </a:rPr>
              <a:t>30 Jun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5650000"/>
            <a:ext cx="35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dirty="0">
                <a:solidFill>
                  <a:srgbClr val="6B7A70"/>
                </a:solidFill>
                <a:latin typeface="Calibri"/>
              </a:rPr>
              <a:t>95% of debt is with one bank. Maturities: 84 bn in 2H26, 252 bn in 2027.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00000" y="2800000"/>
            <a:ext cx="72000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1F5E40"/>
                </a:solidFill>
                <a:latin typeface="Calibri"/>
              </a:rPr>
              <a:t>WHAT THIS MEANS FOR THE FUNDING PLATFORM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00000" y="3100000"/>
            <a:ext cx="7616928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Aft>
                <a:spcPts val="400"/>
              </a:spcAft>
              <a:buFont typeface="Wingdings" panose="05000000000000000000" pitchFamily="2" charset="2"/>
              <a:buChar char="§"/>
            </a:pPr>
            <a:r>
              <a:rPr sz="1200" dirty="0">
                <a:solidFill>
                  <a:srgbClr val="16241C"/>
                </a:solidFill>
                <a:latin typeface="Calibri"/>
              </a:rPr>
              <a:t>Capacity is not the constraint: net debt is around 0.6x EBITDA, with cash covering near-term maturities comfortably.</a:t>
            </a:r>
          </a:p>
          <a:p>
            <a:pPr marL="171450" indent="-171450">
              <a:spcAft>
                <a:spcPts val="400"/>
              </a:spcAft>
              <a:buFont typeface="Wingdings" panose="05000000000000000000" pitchFamily="2" charset="2"/>
              <a:buChar char="§"/>
            </a:pPr>
            <a:r>
              <a:rPr sz="1200" dirty="0">
                <a:solidFill>
                  <a:srgbClr val="16241C"/>
                </a:solidFill>
                <a:latin typeface="Calibri"/>
              </a:rPr>
              <a:t>The constraint is concentration: nearly all borrowing sits with one bank, on one balance sheet.</a:t>
            </a:r>
          </a:p>
          <a:p>
            <a:pPr marL="171450" indent="-171450">
              <a:spcAft>
                <a:spcPts val="400"/>
              </a:spcAft>
              <a:buFont typeface="Wingdings" panose="05000000000000000000" pitchFamily="2" charset="2"/>
              <a:buChar char="§"/>
            </a:pPr>
            <a:r>
              <a:rPr sz="1200" dirty="0">
                <a:solidFill>
                  <a:srgbClr val="16241C"/>
                </a:solidFill>
                <a:latin typeface="Calibri"/>
              </a:rPr>
              <a:t>Explore project finance for utility assets: SPV, user contracts, lender off our balance sheet.</a:t>
            </a:r>
          </a:p>
          <a:p>
            <a:pPr marL="171450" indent="-171450">
              <a:spcAft>
                <a:spcPts val="400"/>
              </a:spcAft>
              <a:buFont typeface="Wingdings" panose="05000000000000000000" pitchFamily="2" charset="2"/>
              <a:buChar char="§"/>
            </a:pPr>
            <a:r>
              <a:rPr sz="1200" dirty="0">
                <a:solidFill>
                  <a:srgbClr val="16241C"/>
                </a:solidFill>
                <a:latin typeface="Calibri"/>
              </a:rPr>
              <a:t>Approach infrastructure funds, family offices and asset managers as funding partners.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400000" y="5200000"/>
            <a:ext cx="7200000" cy="800000"/>
          </a:xfrm>
          <a:prstGeom prst="rect">
            <a:avLst/>
          </a:prstGeom>
          <a:solidFill>
            <a:srgbClr val="F5E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600000" y="5280000"/>
            <a:ext cx="6800000" cy="6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>
                <a:solidFill>
                  <a:srgbClr val="16241C"/>
                </a:solidFill>
                <a:latin typeface="Calibri"/>
              </a:rPr>
              <a:t>Capacity is not the constraint. The watch-item is lender concentration: diversifying funding sources is a prudent working item, not an emergency.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01807" y="6419088"/>
            <a:ext cx="8229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B7A70"/>
                </a:solidFill>
                <a:latin typeface="Calibri"/>
              </a:rPr>
              <a:t>6 / 13</a:t>
            </a:r>
          </a:p>
        </p:txBody>
      </p:sp>
      <p:graphicFrame>
        <p:nvGraphicFramePr>
          <p:cNvPr id="35" name="Chart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0004703"/>
              </p:ext>
            </p:extLst>
          </p:nvPr>
        </p:nvGraphicFramePr>
        <p:xfrm>
          <a:off x="566928" y="2800000"/>
          <a:ext cx="3200000" cy="26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F5E40"/>
                </a:solidFill>
                <a:latin typeface="Calibri"/>
              </a:rPr>
              <a:t>6  ·  MOVE 4 AND MOVE 7, WITH THE TRADE FILE FOLDED 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874959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6241C"/>
                </a:solidFill>
                <a:latin typeface="Calibri"/>
              </a:rPr>
              <a:t>The tariff advantage alone no longer sells — the package is what closes the deal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88720"/>
            <a:ext cx="777240" cy="41148"/>
          </a:xfrm>
          <a:prstGeom prst="rect">
            <a:avLst/>
          </a:prstGeom>
          <a:solidFill>
            <a:srgbClr val="C07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344168" y="1188720"/>
            <a:ext cx="10280599" cy="41148"/>
          </a:xfrm>
          <a:prstGeom prst="rect">
            <a:avLst/>
          </a:prstGeom>
          <a:solidFill>
            <a:srgbClr val="E8E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1450000"/>
            <a:ext cx="540000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>
                <a:solidFill>
                  <a:srgbClr val="1F5E40"/>
                </a:solidFill>
                <a:latin typeface="Calibri"/>
              </a:rPr>
              <a:t>WHAT HAS CHANGED IN THE US–CHINA PICTURE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879310"/>
            <a:ext cx="5400000" cy="1118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just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sz="1200" dirty="0">
                <a:solidFill>
                  <a:srgbClr val="16241C"/>
                </a:solidFill>
                <a:latin typeface="Calibri"/>
              </a:rPr>
              <a:t>The US–China tariff truce is in force for a defined period, subject to renewal.</a:t>
            </a:r>
          </a:p>
          <a:p>
            <a:pPr marL="171450" indent="-171450" algn="just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sz="1200" dirty="0">
                <a:solidFill>
                  <a:srgbClr val="16241C"/>
                </a:solidFill>
                <a:latin typeface="Calibri"/>
              </a:rPr>
              <a:t>Tariffs on a substantial share of bilateral trade remain under a framework still being </a:t>
            </a:r>
            <a:r>
              <a:rPr sz="1200" dirty="0" err="1">
                <a:solidFill>
                  <a:srgbClr val="16241C"/>
                </a:solidFill>
                <a:latin typeface="Calibri"/>
              </a:rPr>
              <a:t>finalised</a:t>
            </a:r>
            <a:r>
              <a:rPr sz="1200" dirty="0">
                <a:solidFill>
                  <a:srgbClr val="16241C"/>
                </a:solidFill>
                <a:latin typeface="Calibri"/>
              </a:rPr>
              <a:t>.</a:t>
            </a:r>
          </a:p>
          <a:p>
            <a:pPr marL="171450" indent="-171450" algn="just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sz="1200" dirty="0">
                <a:solidFill>
                  <a:srgbClr val="16241C"/>
                </a:solidFill>
                <a:latin typeface="Calibri"/>
              </a:rPr>
              <a:t>Earlier tariffs and technology restrictions remain in place; the direction is positive, but free-trade conditions have not returned.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6416355"/>
              </p:ext>
            </p:extLst>
          </p:nvPr>
        </p:nvGraphicFramePr>
        <p:xfrm>
          <a:off x="816308" y="3381528"/>
          <a:ext cx="3000000" cy="15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50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Origin</a:t>
                      </a:r>
                    </a:p>
                  </a:txBody>
                  <a:tcPr anchor="ctr">
                    <a:solidFill>
                      <a:srgbClr val="1F5E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dirty="0">
                          <a:solidFill>
                            <a:srgbClr val="FFFFFF"/>
                          </a:solidFill>
                          <a:latin typeface="Calibri"/>
                        </a:rPr>
                        <a:t>Section 301</a:t>
                      </a:r>
                    </a:p>
                  </a:txBody>
                  <a:tcPr anchor="ctr">
                    <a:solidFill>
                      <a:srgbClr val="1F5E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50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6241C"/>
                          </a:solidFill>
                          <a:latin typeface="Calibri"/>
                        </a:rPr>
                        <a:t>China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100" dirty="0">
                          <a:solidFill>
                            <a:srgbClr val="16241C"/>
                          </a:solidFill>
                          <a:latin typeface="Calibri"/>
                        </a:rPr>
                        <a:t>12.5%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50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6241C"/>
                          </a:solidFill>
                          <a:latin typeface="Calibri"/>
                        </a:rPr>
                        <a:t>Indonesia</a:t>
                      </a:r>
                    </a:p>
                  </a:txBody>
                  <a:tcPr anchor="ctr"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dirty="0">
                          <a:solidFill>
                            <a:srgbClr val="16241C"/>
                          </a:solidFill>
                          <a:latin typeface="Calibri"/>
                        </a:rPr>
                        <a:t>10%</a:t>
                      </a:r>
                    </a:p>
                  </a:txBody>
                  <a:tcPr anchor="ctr">
                    <a:solidFill>
                      <a:srgbClr val="E8EC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50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6241C"/>
                          </a:solidFill>
                          <a:latin typeface="Calibri"/>
                        </a:rPr>
                        <a:t>Vietnam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sz="1100" dirty="0">
                          <a:solidFill>
                            <a:srgbClr val="16241C"/>
                          </a:solidFill>
                          <a:latin typeface="Calibri"/>
                        </a:rPr>
                        <a:t>12.5%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66928" y="5000000"/>
            <a:ext cx="5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B7A70"/>
                </a:solidFill>
                <a:latin typeface="Calibri"/>
              </a:rPr>
              <a:t>Additional Section 301 tariffs since July 2026. MFN rates and exclusions still move the final number.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450000"/>
            <a:ext cx="5349240" cy="4400000"/>
          </a:xfrm>
          <a:prstGeom prst="rect">
            <a:avLst/>
          </a:prstGeom>
          <a:solidFill>
            <a:srgbClr val="E8E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00000" y="1600000"/>
            <a:ext cx="490000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>
                <a:solidFill>
                  <a:srgbClr val="1F5E40"/>
                </a:solidFill>
                <a:latin typeface="Calibri"/>
              </a:rPr>
              <a:t>SELL THE PACKAGE, NOT JUST THE TARIFF GAP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0000" y="1900000"/>
            <a:ext cx="4900000" cy="17235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just">
              <a:spcAft>
                <a:spcPts val="400"/>
              </a:spcAft>
              <a:buFont typeface="Wingdings" panose="05000000000000000000" pitchFamily="2" charset="2"/>
              <a:buChar char="Ø"/>
            </a:pPr>
            <a:r>
              <a:rPr sz="1200" dirty="0">
                <a:solidFill>
                  <a:srgbClr val="16241C"/>
                </a:solidFill>
                <a:latin typeface="Calibri"/>
              </a:rPr>
              <a:t>For low-value goods (toys, small appliances, kitchenware), tariffs may </a:t>
            </a:r>
            <a:r>
              <a:rPr sz="1200" dirty="0" err="1">
                <a:solidFill>
                  <a:srgbClr val="16241C"/>
                </a:solidFill>
                <a:latin typeface="Calibri"/>
              </a:rPr>
              <a:t>normalise</a:t>
            </a:r>
            <a:r>
              <a:rPr sz="1200" dirty="0">
                <a:solidFill>
                  <a:srgbClr val="16241C"/>
                </a:solidFill>
                <a:latin typeface="Calibri"/>
              </a:rPr>
              <a:t> — the reason they moved out of China fades.</a:t>
            </a:r>
          </a:p>
          <a:p>
            <a:pPr marL="171450" indent="-171450" algn="just">
              <a:spcAft>
                <a:spcPts val="400"/>
              </a:spcAft>
              <a:buFont typeface="Wingdings" panose="05000000000000000000" pitchFamily="2" charset="2"/>
              <a:buChar char="Ø"/>
            </a:pPr>
            <a:r>
              <a:rPr sz="1200" dirty="0">
                <a:solidFill>
                  <a:srgbClr val="16241C"/>
                </a:solidFill>
                <a:latin typeface="Calibri"/>
              </a:rPr>
              <a:t>What holds up under any truce: market access, a second production base (China+1), and an integrated estate that gets a plant running on day one.</a:t>
            </a:r>
          </a:p>
          <a:p>
            <a:pPr marL="171450" indent="-171450" algn="just">
              <a:spcAft>
                <a:spcPts val="400"/>
              </a:spcAft>
              <a:buFont typeface="Wingdings" panose="05000000000000000000" pitchFamily="2" charset="2"/>
              <a:buChar char="Ø"/>
            </a:pPr>
            <a:r>
              <a:rPr sz="1200" dirty="0">
                <a:solidFill>
                  <a:srgbClr val="16241C"/>
                </a:solidFill>
                <a:latin typeface="Calibri"/>
              </a:rPr>
              <a:t>Target investors where the gap is real: 12.5% from China versus 10% from Indonesia, plus sectors under review.</a:t>
            </a:r>
          </a:p>
          <a:p>
            <a:pPr marL="171450" indent="-171450" algn="just">
              <a:spcAft>
                <a:spcPts val="400"/>
              </a:spcAft>
              <a:buFont typeface="Wingdings" panose="05000000000000000000" pitchFamily="2" charset="2"/>
              <a:buChar char="Ø"/>
            </a:pPr>
            <a:r>
              <a:rPr sz="1200" dirty="0">
                <a:solidFill>
                  <a:srgbClr val="16241C"/>
                </a:solidFill>
                <a:latin typeface="Calibri"/>
              </a:rPr>
              <a:t>Sell in this order: market access, utilities and permits, workforce, then the land.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5950000"/>
            <a:ext cx="11057839" cy="380000"/>
          </a:xfrm>
          <a:prstGeom prst="rect">
            <a:avLst/>
          </a:prstGeom>
          <a:solidFill>
            <a:srgbClr val="162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86384" y="5990000"/>
            <a:ext cx="10600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Areas: Cikarang — the full package.  Kendal — export industry, demand-funded with the JV partner.  Morotai — only with a committed investor.  Tanjung Lesung — with operators.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01807" y="6419088"/>
            <a:ext cx="8229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B7A70"/>
                </a:solidFill>
                <a:latin typeface="Calibri"/>
              </a:rPr>
              <a:t>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F5E40"/>
                </a:solidFill>
                <a:latin typeface="Calibri"/>
              </a:rPr>
              <a:t>7  ·  WHY CONVERSION COMES BEFORE ANY NEW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874959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6241C"/>
                </a:solidFill>
                <a:latin typeface="Calibri"/>
              </a:rPr>
              <a:t>H2 2026 sales target: Rp2,562 bn still to 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88720"/>
            <a:ext cx="777240" cy="41148"/>
          </a:xfrm>
          <a:prstGeom prst="rect">
            <a:avLst/>
          </a:prstGeom>
          <a:solidFill>
            <a:srgbClr val="C07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344168" y="1188720"/>
            <a:ext cx="10280599" cy="41148"/>
          </a:xfrm>
          <a:prstGeom prst="rect">
            <a:avLst/>
          </a:prstGeom>
          <a:solidFill>
            <a:srgbClr val="E8E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66928" y="1450000"/>
          <a:ext cx="5500000" cy="32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66928" y="4700000"/>
            <a:ext cx="55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B7A70"/>
                </a:solidFill>
                <a:latin typeface="Calibri"/>
              </a:rPr>
              <a:t>Marketing sales vs 2026 target of Rp3,750 bn. IDR bn.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0000" y="1450000"/>
            <a:ext cx="5100000" cy="3550000"/>
          </a:xfrm>
          <a:prstGeom prst="rect">
            <a:avLst/>
          </a:prstGeom>
          <a:solidFill>
            <a:srgbClr val="F5E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00000" y="1550000"/>
            <a:ext cx="490000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>
                <a:solidFill>
                  <a:srgbClr val="C07A2D"/>
                </a:solidFill>
                <a:latin typeface="Calibri"/>
              </a:rPr>
              <a:t>THE PIPELINE, IN BRIEF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00000" y="1850000"/>
            <a:ext cx="4435855" cy="1538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just">
              <a:spcAft>
                <a:spcPts val="400"/>
              </a:spcAft>
              <a:buFont typeface="Wingdings" panose="05000000000000000000" pitchFamily="2" charset="2"/>
              <a:buChar char="§"/>
            </a:pPr>
            <a:r>
              <a:rPr lang="en-ID" sz="1200" dirty="0">
                <a:solidFill>
                  <a:srgbClr val="16241C"/>
                </a:solidFill>
              </a:rPr>
              <a:t>About 71% of 1H2026 sales came from Kendal </a:t>
            </a:r>
          </a:p>
          <a:p>
            <a:pPr marL="171450" indent="-171450" algn="just">
              <a:spcAft>
                <a:spcPts val="400"/>
              </a:spcAft>
              <a:buFont typeface="Wingdings" panose="05000000000000000000" pitchFamily="2" charset="2"/>
              <a:buChar char="§"/>
            </a:pPr>
            <a:r>
              <a:rPr sz="1200" dirty="0">
                <a:solidFill>
                  <a:srgbClr val="16241C"/>
                </a:solidFill>
                <a:latin typeface="Calibri"/>
              </a:rPr>
              <a:t>Management reports about 140 ha of demand in discussion for H2 — a pipeline, not a forecast.</a:t>
            </a:r>
          </a:p>
          <a:p>
            <a:pPr marL="171450" indent="-171450" algn="just">
              <a:spcAft>
                <a:spcPts val="400"/>
              </a:spcAft>
              <a:buFont typeface="Wingdings" panose="05000000000000000000" pitchFamily="2" charset="2"/>
              <a:buChar char="§"/>
            </a:pPr>
            <a:r>
              <a:rPr sz="1200" dirty="0">
                <a:solidFill>
                  <a:srgbClr val="16241C"/>
                </a:solidFill>
                <a:latin typeface="Calibri"/>
              </a:rPr>
              <a:t>It is not yet broken down by area; the </a:t>
            </a:r>
            <a:r>
              <a:rPr sz="1200" dirty="0" err="1">
                <a:solidFill>
                  <a:srgbClr val="16241C"/>
                </a:solidFill>
                <a:latin typeface="Calibri"/>
              </a:rPr>
              <a:t>Cikarang</a:t>
            </a:r>
            <a:r>
              <a:rPr sz="1200" dirty="0">
                <a:solidFill>
                  <a:srgbClr val="16241C"/>
                </a:solidFill>
                <a:latin typeface="Calibri"/>
              </a:rPr>
              <a:t> versus Kendal split is not known.</a:t>
            </a:r>
          </a:p>
          <a:p>
            <a:pPr marL="171450" indent="-171450" algn="just">
              <a:spcAft>
                <a:spcPts val="400"/>
              </a:spcAft>
              <a:buFont typeface="Wingdings" panose="05000000000000000000" pitchFamily="2" charset="2"/>
              <a:buChar char="§"/>
            </a:pPr>
            <a:r>
              <a:rPr sz="1200" dirty="0">
                <a:solidFill>
                  <a:srgbClr val="16241C"/>
                </a:solidFill>
                <a:latin typeface="Calibri"/>
              </a:rPr>
              <a:t>Asking prices vary widely by location. The pipeline is a reason to accelerate conversion, not a number to multiply.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5100000"/>
            <a:ext cx="55000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1F5E40"/>
                </a:solidFill>
                <a:latin typeface="Calibri"/>
              </a:rPr>
              <a:t>WHAT FOCUS LOOKS LIKE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400000"/>
            <a:ext cx="55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>
                <a:solidFill>
                  <a:srgbClr val="16241C"/>
                </a:solidFill>
                <a:latin typeface="Calibri"/>
              </a:rPr>
              <a:t>—  Rank every live deal by probability and blocker; review weekly with sales leads.</a:t>
            </a:r>
          </a:p>
          <a:p>
            <a:pPr>
              <a:spcAft>
                <a:spcPts val="400"/>
              </a:spcAft>
            </a:pPr>
            <a:r>
              <a:rPr sz="1050">
                <a:solidFill>
                  <a:srgbClr val="16241C"/>
                </a:solidFill>
                <a:latin typeface="Calibri"/>
              </a:rPr>
              <a:t>—  Clear titles and handovers first.  Hold new capex until the pilot review.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01807" y="6419088"/>
            <a:ext cx="8229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B7A70"/>
                </a:solidFill>
                <a:latin typeface="Calibri"/>
              </a:rPr>
              <a:t>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F5E40"/>
                </a:solidFill>
                <a:latin typeface="Calibri"/>
              </a:rPr>
              <a:t>8  ·  THE PROPOSED PILOT PHASE, MADE CONCRETE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874959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6241C"/>
                </a:solidFill>
                <a:latin typeface="Calibri"/>
              </a:rPr>
              <a:t>Three workstreams for Board discussion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88720"/>
            <a:ext cx="777240" cy="41148"/>
          </a:xfrm>
          <a:prstGeom prst="rect">
            <a:avLst/>
          </a:prstGeom>
          <a:solidFill>
            <a:srgbClr val="C07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344168" y="1188720"/>
            <a:ext cx="10280599" cy="41148"/>
          </a:xfrm>
          <a:prstGeom prst="rect">
            <a:avLst/>
          </a:prstGeom>
          <a:solidFill>
            <a:srgbClr val="E8E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66928" y="1450000"/>
            <a:ext cx="3520440" cy="4400000"/>
          </a:xfrm>
          <a:prstGeom prst="rect">
            <a:avLst/>
          </a:prstGeom>
          <a:solidFill>
            <a:srgbClr val="E8E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66928" y="1450000"/>
            <a:ext cx="3520440" cy="45720"/>
          </a:xfrm>
          <a:prstGeom prst="rect">
            <a:avLst/>
          </a:prstGeom>
          <a:solidFill>
            <a:srgbClr val="C07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6928" y="1550000"/>
            <a:ext cx="311810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C07A2D"/>
                </a:solidFill>
                <a:latin typeface="Calibri"/>
              </a:rPr>
              <a:t>WORKSTREAM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6928" y="1800000"/>
            <a:ext cx="311810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6241C"/>
                </a:solidFill>
                <a:latin typeface="Calibri"/>
              </a:rPr>
              <a:t>Establish the facts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6928" y="2150000"/>
            <a:ext cx="311810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B7A70"/>
                </a:solidFill>
                <a:latin typeface="Calibri"/>
              </a:rPr>
              <a:t>Owner to be confirmed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6928" y="2450000"/>
            <a:ext cx="3118104" cy="1908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sz="1200" dirty="0">
                <a:solidFill>
                  <a:srgbClr val="16241C"/>
                </a:solidFill>
                <a:latin typeface="Calibri"/>
              </a:rPr>
              <a:t>Every business unit submits a capex register: each project, committed spend, approval status, expected return.</a:t>
            </a:r>
          </a:p>
          <a:p>
            <a:pPr marL="171450" indent="-1714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sz="1200" dirty="0">
                <a:solidFill>
                  <a:srgbClr val="16241C"/>
                </a:solidFill>
                <a:latin typeface="Calibri"/>
              </a:rPr>
              <a:t>Finance runs a cash forecast by unit, refreshed regularly.</a:t>
            </a:r>
          </a:p>
          <a:p>
            <a:pPr marL="171450" indent="-1714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sz="1200" dirty="0">
                <a:solidFill>
                  <a:srgbClr val="16241C"/>
                </a:solidFill>
                <a:latin typeface="Calibri"/>
              </a:rPr>
              <a:t>Survey the top tenants: utility spend, complaints, expansion plans, hiring.</a:t>
            </a:r>
          </a:p>
          <a:p>
            <a:pPr marL="171450" indent="-1714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sz="1200" dirty="0">
                <a:solidFill>
                  <a:srgbClr val="16241C"/>
                </a:solidFill>
                <a:latin typeface="Calibri"/>
              </a:rPr>
              <a:t>Sales ranks every live deal by probability and blocker.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34256" y="1450000"/>
            <a:ext cx="3520440" cy="4400000"/>
          </a:xfrm>
          <a:prstGeom prst="rect">
            <a:avLst/>
          </a:prstGeom>
          <a:solidFill>
            <a:srgbClr val="E8E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34256" y="1450000"/>
            <a:ext cx="3520440" cy="45720"/>
          </a:xfrm>
          <a:prstGeom prst="rect">
            <a:avLst/>
          </a:prstGeom>
          <a:solidFill>
            <a:srgbClr val="C07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34256" y="1550000"/>
            <a:ext cx="311810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C07A2D"/>
                </a:solidFill>
                <a:latin typeface="Calibri"/>
              </a:rPr>
              <a:t>WORKSTREAM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4256" y="1800000"/>
            <a:ext cx="311810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6241C"/>
                </a:solidFill>
                <a:latin typeface="Calibri"/>
              </a:rPr>
              <a:t>Open the tenant door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34256" y="2150000"/>
            <a:ext cx="311810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B7A70"/>
                </a:solidFill>
                <a:latin typeface="Calibri"/>
              </a:rPr>
              <a:t>Owner to be confirmed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4256" y="2450000"/>
            <a:ext cx="3118104" cy="1908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sz="1200" dirty="0">
                <a:solidFill>
                  <a:srgbClr val="16241C"/>
                </a:solidFill>
                <a:latin typeface="Calibri"/>
              </a:rPr>
              <a:t>One tenant desk, one named account owner for major accounts.</a:t>
            </a:r>
          </a:p>
          <a:p>
            <a:pPr marL="171450" indent="-1714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sz="1200" dirty="0">
                <a:solidFill>
                  <a:srgbClr val="16241C"/>
                </a:solidFill>
                <a:latin typeface="Calibri"/>
              </a:rPr>
              <a:t>Publish prices for a set of services: energy efficiency, water, waste, logistics, training.</a:t>
            </a:r>
          </a:p>
          <a:p>
            <a:pPr marL="171450" indent="-1714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sz="1200" dirty="0">
                <a:solidFill>
                  <a:srgbClr val="16241C"/>
                </a:solidFill>
                <a:latin typeface="Calibri"/>
              </a:rPr>
              <a:t>Sign a cooperation agreement with President University, FKPU and PURTH for selected services.</a:t>
            </a:r>
          </a:p>
          <a:p>
            <a:pPr marL="171450" indent="-1714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sz="1200" dirty="0">
                <a:solidFill>
                  <a:srgbClr val="16241C"/>
                </a:solidFill>
                <a:latin typeface="Calibri"/>
              </a:rPr>
              <a:t>Convene the green-city group with the regency and the seven estates.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01584" y="1450000"/>
            <a:ext cx="3520440" cy="4400000"/>
          </a:xfrm>
          <a:prstGeom prst="rect">
            <a:avLst/>
          </a:prstGeom>
          <a:solidFill>
            <a:srgbClr val="E8E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101584" y="1450000"/>
            <a:ext cx="3520440" cy="45720"/>
          </a:xfrm>
          <a:prstGeom prst="rect">
            <a:avLst/>
          </a:prstGeom>
          <a:solidFill>
            <a:srgbClr val="C07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01584" y="1550000"/>
            <a:ext cx="311810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C07A2D"/>
                </a:solidFill>
                <a:latin typeface="Calibri"/>
              </a:rPr>
              <a:t>WORKSTREAM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01584" y="1800000"/>
            <a:ext cx="3118104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6241C"/>
                </a:solidFill>
                <a:latin typeface="Calibri"/>
              </a:rPr>
              <a:t>Prepare investment and reporting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1584" y="2150000"/>
            <a:ext cx="3118104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B7A70"/>
                </a:solidFill>
                <a:latin typeface="Calibri"/>
              </a:rPr>
              <a:t>Owner to be confirmed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01584" y="2450000"/>
            <a:ext cx="3118104" cy="1908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sz="1200" dirty="0">
                <a:solidFill>
                  <a:srgbClr val="16241C"/>
                </a:solidFill>
                <a:latin typeface="Calibri"/>
              </a:rPr>
              <a:t>Bring a small set of infrastructure projects to the Board: cash-flow model, funding partner, schedule.</a:t>
            </a:r>
          </a:p>
          <a:p>
            <a:pPr marL="171450" indent="-1714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sz="1200" dirty="0">
                <a:solidFill>
                  <a:srgbClr val="16241C"/>
                </a:solidFill>
                <a:latin typeface="Calibri"/>
              </a:rPr>
              <a:t>Explore one project-finance structure and test it with partner types.</a:t>
            </a:r>
          </a:p>
          <a:p>
            <a:pPr marL="171450" indent="-1714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sz="1200" dirty="0">
                <a:solidFill>
                  <a:srgbClr val="16241C"/>
                </a:solidFill>
                <a:latin typeface="Calibri"/>
              </a:rPr>
              <a:t>Run an AI pilot in administration: named process, owner and measure.</a:t>
            </a:r>
          </a:p>
          <a:p>
            <a:pPr marL="171450" indent="-1714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sz="1200" dirty="0">
                <a:solidFill>
                  <a:srgbClr val="16241C"/>
                </a:solidFill>
                <a:latin typeface="Calibri"/>
              </a:rPr>
              <a:t>Report on the tenant register, the capex register and the conversion pipeline.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050000"/>
            <a:ext cx="110578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A70"/>
                </a:solidFill>
                <a:latin typeface="Calibri"/>
              </a:rPr>
              <a:t>This is a proposed agenda for discussion. Owners and timing will be confirmed after the Board aligns on direction.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01807" y="6419088"/>
            <a:ext cx="8229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B7A70"/>
                </a:solidFill>
                <a:latin typeface="Calibri"/>
              </a:rPr>
              <a:t>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F5E40"/>
                </a:solidFill>
                <a:latin typeface="Calibri"/>
              </a:rPr>
              <a:t>9  ·  HOW THE WORK KEEPS RUNNING AFTER THE PILOT PHASE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874959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6241C"/>
                </a:solidFill>
                <a:latin typeface="Calibri"/>
              </a:rPr>
              <a:t>The monthly report: one page per business unit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88720"/>
            <a:ext cx="777240" cy="41148"/>
          </a:xfrm>
          <a:prstGeom prst="rect">
            <a:avLst/>
          </a:prstGeom>
          <a:solidFill>
            <a:srgbClr val="C07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344168" y="1188720"/>
            <a:ext cx="10280599" cy="41148"/>
          </a:xfrm>
          <a:prstGeom prst="rect">
            <a:avLst/>
          </a:prstGeom>
          <a:solidFill>
            <a:srgbClr val="E8E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1450000"/>
            <a:ext cx="557784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F5E40"/>
                </a:solidFill>
                <a:latin typeface="Calibri"/>
              </a:rPr>
              <a:t>THE MONTHLY PACK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833127"/>
            <a:ext cx="5577840" cy="21954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Aft>
                <a:spcPts val="400"/>
              </a:spcAft>
              <a:buFont typeface="Wingdings" panose="05000000000000000000" pitchFamily="2" charset="2"/>
              <a:buChar char="ü"/>
            </a:pPr>
            <a:r>
              <a:rPr sz="1200" dirty="0">
                <a:solidFill>
                  <a:srgbClr val="16241C"/>
                </a:solidFill>
                <a:latin typeface="Calibri"/>
              </a:rPr>
              <a:t>Revenue and gross profit by line, with the volume behind them.</a:t>
            </a:r>
          </a:p>
          <a:p>
            <a:pPr marL="171450" indent="-171450">
              <a:spcAft>
                <a:spcPts val="400"/>
              </a:spcAft>
              <a:buFont typeface="Wingdings" panose="05000000000000000000" pitchFamily="2" charset="2"/>
              <a:buChar char="ü"/>
            </a:pPr>
            <a:r>
              <a:rPr sz="1200" dirty="0">
                <a:solidFill>
                  <a:srgbClr val="16241C"/>
                </a:solidFill>
                <a:latin typeface="Calibri"/>
              </a:rPr>
              <a:t>Operating efficiency: energy and water sold per tenant, downtime, waste processed, dry-port throughput.</a:t>
            </a:r>
          </a:p>
          <a:p>
            <a:pPr marL="171450" indent="-171450">
              <a:spcAft>
                <a:spcPts val="400"/>
              </a:spcAft>
              <a:buFont typeface="Wingdings" panose="05000000000000000000" pitchFamily="2" charset="2"/>
              <a:buChar char="ü"/>
            </a:pPr>
            <a:r>
              <a:rPr sz="1200" dirty="0">
                <a:solidFill>
                  <a:srgbClr val="16241C"/>
                </a:solidFill>
                <a:latin typeface="Calibri"/>
              </a:rPr>
              <a:t>Tenant movements: new contracts, arrears, complaints raised and closed, accounts at risk.</a:t>
            </a:r>
          </a:p>
          <a:p>
            <a:pPr marL="171450" indent="-171450">
              <a:spcAft>
                <a:spcPts val="400"/>
              </a:spcAft>
              <a:buFont typeface="Wingdings" panose="05000000000000000000" pitchFamily="2" charset="2"/>
              <a:buChar char="ü"/>
            </a:pPr>
            <a:r>
              <a:rPr sz="1200" dirty="0">
                <a:solidFill>
                  <a:srgbClr val="16241C"/>
                </a:solidFill>
                <a:latin typeface="Calibri"/>
              </a:rPr>
              <a:t>Capex: spend against the approved register, and any project that has moved in scope or schedule.</a:t>
            </a:r>
          </a:p>
          <a:p>
            <a:pPr marL="171450" indent="-171450">
              <a:spcAft>
                <a:spcPts val="400"/>
              </a:spcAft>
              <a:buFont typeface="Wingdings" panose="05000000000000000000" pitchFamily="2" charset="2"/>
              <a:buChar char="ü"/>
            </a:pPr>
            <a:r>
              <a:rPr sz="1200" dirty="0">
                <a:solidFill>
                  <a:srgbClr val="16241C"/>
                </a:solidFill>
                <a:latin typeface="Calibri"/>
              </a:rPr>
              <a:t>Conversion: deals signed, deals slipped, and the reason for each slip.</a:t>
            </a:r>
          </a:p>
          <a:p>
            <a:pPr marL="171450" indent="-171450">
              <a:spcAft>
                <a:spcPts val="400"/>
              </a:spcAft>
              <a:buFont typeface="Wingdings" panose="05000000000000000000" pitchFamily="2" charset="2"/>
              <a:buChar char="ü"/>
            </a:pPr>
            <a:r>
              <a:rPr sz="1200" dirty="0">
                <a:solidFill>
                  <a:srgbClr val="16241C"/>
                </a:solidFill>
                <a:latin typeface="Calibri"/>
              </a:rPr>
              <a:t>People: headcount and training days, so the tenant </a:t>
            </a:r>
            <a:r>
              <a:rPr sz="1200" dirty="0" err="1">
                <a:solidFill>
                  <a:srgbClr val="16241C"/>
                </a:solidFill>
                <a:latin typeface="Calibri"/>
              </a:rPr>
              <a:t>programme</a:t>
            </a:r>
            <a:r>
              <a:rPr sz="1200" dirty="0">
                <a:solidFill>
                  <a:srgbClr val="16241C"/>
                </a:solidFill>
                <a:latin typeface="Calibri"/>
              </a:rPr>
              <a:t> is staffed realistically.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300000"/>
            <a:ext cx="557784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A70"/>
                </a:solidFill>
                <a:latin typeface="Calibri"/>
              </a:rPr>
              <a:t>One page per unit, the same page every month — comparison is between months, not between presentations.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450000"/>
            <a:ext cx="5349240" cy="4400000"/>
          </a:xfrm>
          <a:prstGeom prst="rect">
            <a:avLst/>
          </a:prstGeom>
          <a:solidFill>
            <a:srgbClr val="E8E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00000" y="1600000"/>
            <a:ext cx="490000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>
                <a:solidFill>
                  <a:srgbClr val="1F5E40"/>
                </a:solidFill>
                <a:latin typeface="Calibri"/>
              </a:rPr>
              <a:t>WHAT THE TRANSFORMATION COMMITTEE TAKES 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0000" y="1900000"/>
            <a:ext cx="4900000" cy="19595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spcAft>
                <a:spcPts val="400"/>
              </a:spcAft>
              <a:buFont typeface="Wingdings" panose="05000000000000000000" pitchFamily="2" charset="2"/>
              <a:buChar char="Ø"/>
            </a:pPr>
            <a:r>
              <a:rPr sz="1200" dirty="0">
                <a:solidFill>
                  <a:srgbClr val="16241C"/>
                </a:solidFill>
                <a:latin typeface="Calibri"/>
              </a:rPr>
              <a:t>Tenant productivity: what major accounts asked for, and what was delivered.</a:t>
            </a:r>
          </a:p>
          <a:p>
            <a:pPr marL="171450" indent="-171450">
              <a:spcAft>
                <a:spcPts val="400"/>
              </a:spcAft>
              <a:buFont typeface="Wingdings" panose="05000000000000000000" pitchFamily="2" charset="2"/>
              <a:buChar char="Ø"/>
            </a:pPr>
            <a:r>
              <a:rPr sz="1200" dirty="0">
                <a:solidFill>
                  <a:srgbClr val="16241C"/>
                </a:solidFill>
                <a:latin typeface="Calibri"/>
              </a:rPr>
              <a:t>Infrastructure growth: the project pipeline, the funding partner for each, the schedule.</a:t>
            </a:r>
          </a:p>
          <a:p>
            <a:pPr marL="171450" indent="-171450">
              <a:spcAft>
                <a:spcPts val="400"/>
              </a:spcAft>
              <a:buFont typeface="Wingdings" panose="05000000000000000000" pitchFamily="2" charset="2"/>
              <a:buChar char="Ø"/>
            </a:pPr>
            <a:r>
              <a:rPr sz="1200" dirty="0">
                <a:solidFill>
                  <a:srgbClr val="16241C"/>
                </a:solidFill>
                <a:latin typeface="Calibri"/>
              </a:rPr>
              <a:t>Investment discipline: every capex request, the case behind it, and the decision taken.</a:t>
            </a:r>
          </a:p>
          <a:p>
            <a:pPr marL="171450" indent="-171450">
              <a:spcAft>
                <a:spcPts val="400"/>
              </a:spcAft>
              <a:buFont typeface="Wingdings" panose="05000000000000000000" pitchFamily="2" charset="2"/>
              <a:buChar char="Ø"/>
            </a:pPr>
            <a:r>
              <a:rPr sz="1200" dirty="0">
                <a:solidFill>
                  <a:srgbClr val="16241C"/>
                </a:solidFill>
                <a:latin typeface="Calibri"/>
              </a:rPr>
              <a:t>Education and health: the cooperation agreement, the pilot, the revenue it produces.</a:t>
            </a:r>
          </a:p>
          <a:p>
            <a:pPr marL="171450" indent="-171450">
              <a:spcAft>
                <a:spcPts val="400"/>
              </a:spcAft>
              <a:buFont typeface="Wingdings" panose="05000000000000000000" pitchFamily="2" charset="2"/>
              <a:buChar char="Ø"/>
            </a:pPr>
            <a:r>
              <a:rPr sz="1200" dirty="0">
                <a:solidFill>
                  <a:srgbClr val="16241C"/>
                </a:solidFill>
                <a:latin typeface="Calibri"/>
              </a:rPr>
              <a:t>Sustainable estates: the shared issues with the regency and the outcome.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0000" y="5600000"/>
            <a:ext cx="4900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B7A70"/>
                </a:solidFill>
                <a:latin typeface="Calibri"/>
              </a:rPr>
              <a:t>Five standing agendas, each fed by one section of the monthly pack.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01807" y="6419088"/>
            <a:ext cx="8229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B7A70"/>
                </a:solidFill>
                <a:latin typeface="Calibri"/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F5E40"/>
                </a:solidFill>
                <a:latin typeface="Calibri"/>
              </a:rPr>
              <a:t>10  ·  THE PAPER’S INDICATIVE TARGETS, WITH THE WORK BEHIND THEM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874959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6241C"/>
                </a:solidFill>
                <a:latin typeface="Calibri"/>
              </a:rPr>
              <a:t>Five indicative directions, and what each one requires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88720"/>
            <a:ext cx="777240" cy="41148"/>
          </a:xfrm>
          <a:prstGeom prst="rect">
            <a:avLst/>
          </a:prstGeom>
          <a:solidFill>
            <a:srgbClr val="C07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344168" y="1188720"/>
            <a:ext cx="10280599" cy="41148"/>
          </a:xfrm>
          <a:prstGeom prst="rect">
            <a:avLst/>
          </a:prstGeom>
          <a:solidFill>
            <a:srgbClr val="E8E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1450000"/>
            <a:ext cx="110578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dirty="0">
                <a:solidFill>
                  <a:srgbClr val="6B7A70"/>
                </a:solidFill>
                <a:latin typeface="Calibri"/>
              </a:rPr>
              <a:t>Indicative directions for the Board to discuss. 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8869834"/>
              </p:ext>
            </p:extLst>
          </p:nvPr>
        </p:nvGraphicFramePr>
        <p:xfrm>
          <a:off x="566928" y="1900000"/>
          <a:ext cx="11057839" cy="3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578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33333"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Calibri"/>
                        </a:rPr>
                        <a:t>Direction</a:t>
                      </a:r>
                    </a:p>
                  </a:txBody>
                  <a:tcPr anchor="ctr">
                    <a:solidFill>
                      <a:srgbClr val="1F5E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What "good" looks like</a:t>
                      </a:r>
                    </a:p>
                  </a:txBody>
                  <a:tcPr anchor="ctr">
                    <a:solidFill>
                      <a:srgbClr val="1F5E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Calibri"/>
                        </a:rPr>
                        <a:t>What has to happen</a:t>
                      </a:r>
                    </a:p>
                  </a:txBody>
                  <a:tcPr anchor="ctr">
                    <a:solidFill>
                      <a:srgbClr val="1F5E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3333">
                <a:tc>
                  <a:txBody>
                    <a:bodyPr/>
                    <a:lstStyle/>
                    <a:p>
                      <a:r>
                        <a:rPr sz="1200" b="1" dirty="0">
                          <a:solidFill>
                            <a:srgbClr val="16241C"/>
                          </a:solidFill>
                          <a:latin typeface="Calibri"/>
                        </a:rPr>
                        <a:t>Recurring revenue growth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6241C"/>
                          </a:solidFill>
                          <a:latin typeface="Calibri"/>
                        </a:rPr>
                        <a:t>Steady growth in recurring revenue, alongside improving profit and cash quality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41C"/>
                          </a:solidFill>
                          <a:latin typeface="Calibri"/>
                        </a:rPr>
                        <a:t>A published service price list and contracted power volume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3333">
                <a:tc>
                  <a:txBody>
                    <a:bodyPr/>
                    <a:lstStyle/>
                    <a:p>
                      <a:r>
                        <a:rPr sz="1200" b="1" dirty="0">
                          <a:solidFill>
                            <a:srgbClr val="16241C"/>
                          </a:solidFill>
                          <a:latin typeface="Calibri"/>
                        </a:rPr>
                        <a:t>Tenant satisfaction</a:t>
                      </a:r>
                    </a:p>
                  </a:txBody>
                  <a:tcPr anchor="ctr"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6241C"/>
                          </a:solidFill>
                          <a:latin typeface="Calibri"/>
                        </a:rPr>
                        <a:t>Measurably higher tenant satisfaction and fewer unresolved complaints</a:t>
                      </a:r>
                    </a:p>
                  </a:txBody>
                  <a:tcPr anchor="ctr"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41C"/>
                          </a:solidFill>
                          <a:latin typeface="Calibri"/>
                        </a:rPr>
                        <a:t>A single tenant desk, and complaints that are actually closed out</a:t>
                      </a:r>
                    </a:p>
                  </a:txBody>
                  <a:tcPr anchor="ctr">
                    <a:solidFill>
                      <a:srgbClr val="E8EC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3333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6241C"/>
                          </a:solidFill>
                          <a:latin typeface="Calibri"/>
                        </a:rPr>
                        <a:t>Administration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6241C"/>
                          </a:solidFill>
                          <a:latin typeface="Calibri"/>
                        </a:rPr>
                        <a:t>Routine administrative processes progressively automated, reducing manual effort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41C"/>
                          </a:solidFill>
                          <a:latin typeface="Calibri"/>
                        </a:rPr>
                        <a:t>A process inventory first — otherwise there is nothing to automate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3333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6241C"/>
                          </a:solidFill>
                          <a:latin typeface="Calibri"/>
                        </a:rPr>
                        <a:t>New investment</a:t>
                      </a:r>
                    </a:p>
                  </a:txBody>
                  <a:tcPr anchor="ctr"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6241C"/>
                          </a:solidFill>
                          <a:latin typeface="Calibri"/>
                        </a:rPr>
                        <a:t>New investment only where user contracts, returns and funding are clear</a:t>
                      </a:r>
                    </a:p>
                  </a:txBody>
                  <a:tcPr anchor="ctr">
                    <a:solidFill>
                      <a:srgbClr val="E8EC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6241C"/>
                          </a:solidFill>
                          <a:latin typeface="Calibri"/>
                        </a:rPr>
                        <a:t>The capex register, reviewed project by project</a:t>
                      </a:r>
                    </a:p>
                  </a:txBody>
                  <a:tcPr anchor="ctr">
                    <a:solidFill>
                      <a:srgbClr val="E8EC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333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6241C"/>
                          </a:solidFill>
                          <a:latin typeface="Calibri"/>
                        </a:rPr>
                        <a:t>New areas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6241C"/>
                          </a:solidFill>
                          <a:latin typeface="Calibri"/>
                        </a:rPr>
                        <a:t>Large-scale capital released only after feasibility and investor commitment are confirmed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dirty="0">
                          <a:solidFill>
                            <a:srgbClr val="16241C"/>
                          </a:solidFill>
                          <a:latin typeface="Calibri"/>
                        </a:rPr>
                        <a:t>Area-level release rules agreed with the JV partner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0801807" y="6419088"/>
            <a:ext cx="8229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B7A70"/>
                </a:solidFill>
                <a:latin typeface="Calibri"/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F5E40"/>
                </a:solidFill>
                <a:latin typeface="Calibri"/>
              </a:rPr>
              <a:t>11  ·  THE PHILOSOPHY, IN OPERATING TERMS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874959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6241C"/>
                </a:solidFill>
                <a:latin typeface="Calibri"/>
              </a:rPr>
              <a:t>Land brings companies in. Five service lines keep them here.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88720"/>
            <a:ext cx="777240" cy="41148"/>
          </a:xfrm>
          <a:prstGeom prst="rect">
            <a:avLst/>
          </a:prstGeom>
          <a:solidFill>
            <a:srgbClr val="C07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344168" y="1188720"/>
            <a:ext cx="10280599" cy="41148"/>
          </a:xfrm>
          <a:prstGeom prst="rect">
            <a:avLst/>
          </a:prstGeom>
          <a:solidFill>
            <a:srgbClr val="E8E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66928" y="1500000"/>
            <a:ext cx="5989320" cy="603504"/>
          </a:xfrm>
          <a:prstGeom prst="rect">
            <a:avLst/>
          </a:prstGeom>
          <a:solidFill>
            <a:srgbClr val="E8E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66928" y="1500000"/>
            <a:ext cx="45720" cy="603504"/>
          </a:xfrm>
          <a:prstGeom prst="rect">
            <a:avLst/>
          </a:prstGeom>
          <a:solidFill>
            <a:srgbClr val="C07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8096" y="1580000"/>
            <a:ext cx="3108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C07A2D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605420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>
                <a:solidFill>
                  <a:srgbClr val="16241C"/>
                </a:solidFill>
                <a:latin typeface="Calibri"/>
              </a:rPr>
              <a:t>Power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70048" y="1626184"/>
            <a:ext cx="37490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B7A70"/>
                </a:solidFill>
                <a:latin typeface="Calibri"/>
              </a:rPr>
              <a:t>contracted supply, and the efficiency service around 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180000"/>
            <a:ext cx="5989320" cy="603504"/>
          </a:xfrm>
          <a:prstGeom prst="rect">
            <a:avLst/>
          </a:prstGeom>
          <a:solidFill>
            <a:srgbClr val="E8E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66928" y="2180000"/>
            <a:ext cx="45720" cy="603504"/>
          </a:xfrm>
          <a:prstGeom prst="rect">
            <a:avLst/>
          </a:prstGeom>
          <a:solidFill>
            <a:srgbClr val="C07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68096" y="2260000"/>
            <a:ext cx="3108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C07A2D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" y="2285420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>
                <a:solidFill>
                  <a:srgbClr val="16241C"/>
                </a:solidFill>
                <a:latin typeface="Calibri"/>
              </a:rPr>
              <a:t>Water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70048" y="2306184"/>
            <a:ext cx="37490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B7A70"/>
                </a:solidFill>
                <a:latin typeface="Calibri"/>
              </a:rPr>
              <a:t>clean water in, treated water and waste out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2860000"/>
            <a:ext cx="5989320" cy="603504"/>
          </a:xfrm>
          <a:prstGeom prst="rect">
            <a:avLst/>
          </a:prstGeom>
          <a:solidFill>
            <a:srgbClr val="E8E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66928" y="2860000"/>
            <a:ext cx="45720" cy="603504"/>
          </a:xfrm>
          <a:prstGeom prst="rect">
            <a:avLst/>
          </a:prstGeom>
          <a:solidFill>
            <a:srgbClr val="C07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68096" y="2940000"/>
            <a:ext cx="3108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C07A2D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2965420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6241C"/>
                </a:solidFill>
                <a:latin typeface="Calibri"/>
              </a:rPr>
              <a:t>Logistics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70048" y="2986184"/>
            <a:ext cx="37490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B7A70"/>
                </a:solidFill>
                <a:latin typeface="Calibri"/>
              </a:rPr>
              <a:t>dry port, warehousing, customs and trucking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3540000"/>
            <a:ext cx="5989320" cy="603504"/>
          </a:xfrm>
          <a:prstGeom prst="rect">
            <a:avLst/>
          </a:prstGeom>
          <a:solidFill>
            <a:srgbClr val="E8E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66928" y="3540000"/>
            <a:ext cx="45720" cy="603504"/>
          </a:xfrm>
          <a:prstGeom prst="rect">
            <a:avLst/>
          </a:prstGeom>
          <a:solidFill>
            <a:srgbClr val="C07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68096" y="3620000"/>
            <a:ext cx="3108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C07A2D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" y="3645420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6241C"/>
                </a:solidFill>
                <a:latin typeface="Calibri"/>
              </a:rPr>
              <a:t>Estate services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70048" y="3666184"/>
            <a:ext cx="37490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B7A70"/>
                </a:solidFill>
                <a:latin typeface="Calibri"/>
              </a:rPr>
              <a:t>maintenance, security, permits, grounds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4220000"/>
            <a:ext cx="5989320" cy="603504"/>
          </a:xfrm>
          <a:prstGeom prst="rect">
            <a:avLst/>
          </a:prstGeom>
          <a:solidFill>
            <a:srgbClr val="E8E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66928" y="4220000"/>
            <a:ext cx="45720" cy="603504"/>
          </a:xfrm>
          <a:prstGeom prst="rect">
            <a:avLst/>
          </a:prstGeom>
          <a:solidFill>
            <a:srgbClr val="C07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68096" y="4300000"/>
            <a:ext cx="310896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C07A2D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" y="4325420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6241C"/>
                </a:solidFill>
                <a:latin typeface="Calibri"/>
              </a:rPr>
              <a:t>Skills and health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70048" y="4346184"/>
            <a:ext cx="37490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B7A70"/>
                </a:solidFill>
                <a:latin typeface="Calibri"/>
              </a:rPr>
              <a:t>training, occupational health, clinics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5000000"/>
            <a:ext cx="598932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6241C"/>
                </a:solidFill>
                <a:latin typeface="Calibri"/>
              </a:rPr>
              <a:t>On their own, these are five small businesses. Sold to the same tenant under one contract, they are the reason that tenant expands here rather than elsewhere.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903720" y="1481328"/>
            <a:ext cx="4709160" cy="2300000"/>
          </a:xfrm>
          <a:prstGeom prst="rect">
            <a:avLst/>
          </a:prstGeom>
          <a:solidFill>
            <a:srgbClr val="E8E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141464" y="1600000"/>
            <a:ext cx="4233672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F5E40"/>
                </a:solidFill>
                <a:latin typeface="Calibri"/>
              </a:rPr>
              <a:t>AND THE CITY AROUND 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41464" y="1900000"/>
            <a:ext cx="4233672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just"/>
            <a:r>
              <a:rPr sz="1200" b="0" dirty="0">
                <a:solidFill>
                  <a:srgbClr val="16241C"/>
                </a:solidFill>
                <a:latin typeface="Calibri"/>
              </a:rPr>
              <a:t>Factories need workers who can commute, streets that do not flood, schools for their children and a clinic that answers at night. That is the green-city agenda — and it is also a sales argument no competing estate in the corridor can copy quickly.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903720" y="3950000"/>
            <a:ext cx="4709160" cy="1950000"/>
          </a:xfrm>
          <a:prstGeom prst="rect">
            <a:avLst/>
          </a:prstGeom>
          <a:solidFill>
            <a:srgbClr val="162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141464" y="4100000"/>
            <a:ext cx="4233672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DDE8DF"/>
                </a:solidFill>
                <a:latin typeface="Calibri"/>
              </a:rPr>
              <a:t>WHAT THE PAPER SAYS, IN ONE LINE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41464" y="4400000"/>
            <a:ext cx="4233672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"An industrial estate is a lasting economic and social ecosystem, where business and the surrounding community grow together."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801807" y="6419088"/>
            <a:ext cx="8229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B7A70"/>
                </a:solidFill>
                <a:latin typeface="Calibri"/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F5E40"/>
                </a:solidFill>
                <a:latin typeface="Calibri"/>
              </a:rPr>
              <a:t>12  · 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874959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6241C"/>
                </a:solidFill>
                <a:latin typeface="Calibri"/>
              </a:rPr>
              <a:t>Five priorities and three decisions for the 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88720"/>
            <a:ext cx="777240" cy="41148"/>
          </a:xfrm>
          <a:prstGeom prst="rect">
            <a:avLst/>
          </a:prstGeom>
          <a:solidFill>
            <a:srgbClr val="C07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344168" y="1188720"/>
            <a:ext cx="10280599" cy="41148"/>
          </a:xfrm>
          <a:prstGeom prst="rect">
            <a:avLst/>
          </a:prstGeom>
          <a:solidFill>
            <a:srgbClr val="E8E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66928" y="1481328"/>
            <a:ext cx="5074920" cy="548640"/>
          </a:xfrm>
          <a:prstGeom prst="rect">
            <a:avLst/>
          </a:prstGeom>
          <a:solidFill>
            <a:srgbClr val="E8E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66928" y="1481328"/>
            <a:ext cx="45720" cy="548640"/>
          </a:xfrm>
          <a:prstGeom prst="rect">
            <a:avLst/>
          </a:prstGeom>
          <a:solidFill>
            <a:srgbClr val="C07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8096" y="1601328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C07A2D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" y="1601328"/>
            <a:ext cx="42976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6241C"/>
                </a:solidFill>
                <a:latin typeface="Calibri"/>
              </a:rPr>
              <a:t>Protect cash flow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2121328"/>
            <a:ext cx="5074920" cy="548640"/>
          </a:xfrm>
          <a:prstGeom prst="rect">
            <a:avLst/>
          </a:prstGeom>
          <a:solidFill>
            <a:srgbClr val="E8E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6928" y="2121328"/>
            <a:ext cx="45720" cy="548640"/>
          </a:xfrm>
          <a:prstGeom prst="rect">
            <a:avLst/>
          </a:prstGeom>
          <a:solidFill>
            <a:srgbClr val="C07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68096" y="2241328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C07A2D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70432" y="2241328"/>
            <a:ext cx="42976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6241C"/>
                </a:solidFill>
                <a:latin typeface="Calibri"/>
              </a:rPr>
              <a:t>Grow recurring income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2761328"/>
            <a:ext cx="5074920" cy="548640"/>
          </a:xfrm>
          <a:prstGeom prst="rect">
            <a:avLst/>
          </a:prstGeom>
          <a:solidFill>
            <a:srgbClr val="E8E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66928" y="2761328"/>
            <a:ext cx="45720" cy="548640"/>
          </a:xfrm>
          <a:prstGeom prst="rect">
            <a:avLst/>
          </a:prstGeom>
          <a:solidFill>
            <a:srgbClr val="C07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68096" y="2881328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C07A2D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0432" y="2881328"/>
            <a:ext cx="42976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6241C"/>
                </a:solidFill>
                <a:latin typeface="Calibri"/>
              </a:rPr>
              <a:t>Support existing tenants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3401328"/>
            <a:ext cx="5074920" cy="548640"/>
          </a:xfrm>
          <a:prstGeom prst="rect">
            <a:avLst/>
          </a:prstGeom>
          <a:solidFill>
            <a:srgbClr val="E8E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66928" y="3401328"/>
            <a:ext cx="45720" cy="548640"/>
          </a:xfrm>
          <a:prstGeom prst="rect">
            <a:avLst/>
          </a:prstGeom>
          <a:solidFill>
            <a:srgbClr val="C07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68096" y="3521328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C07A2D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0432" y="3521328"/>
            <a:ext cx="42976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6241C"/>
                </a:solidFill>
                <a:latin typeface="Calibri"/>
              </a:rPr>
              <a:t>Attract quality investment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4041328"/>
            <a:ext cx="5074920" cy="548640"/>
          </a:xfrm>
          <a:prstGeom prst="rect">
            <a:avLst/>
          </a:prstGeom>
          <a:solidFill>
            <a:srgbClr val="E8E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66928" y="4041328"/>
            <a:ext cx="45720" cy="548640"/>
          </a:xfrm>
          <a:prstGeom prst="rect">
            <a:avLst/>
          </a:prstGeom>
          <a:solidFill>
            <a:srgbClr val="C07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68096" y="4161328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C07A2D"/>
                </a:solidFill>
                <a:latin typeface="Calibr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0432" y="4161328"/>
            <a:ext cx="42976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6241C"/>
                </a:solidFill>
                <a:latin typeface="Calibri"/>
              </a:rPr>
              <a:t>Build future cities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89320" y="1481328"/>
            <a:ext cx="5632704" cy="3400000"/>
          </a:xfrm>
          <a:prstGeom prst="rect">
            <a:avLst/>
          </a:prstGeom>
          <a:solidFill>
            <a:srgbClr val="E8E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28" name="TextBox 27"/>
          <p:cNvSpPr txBox="1"/>
          <p:nvPr/>
        </p:nvSpPr>
        <p:spPr>
          <a:xfrm>
            <a:off x="6227064" y="1600000"/>
            <a:ext cx="5157216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>
                <a:solidFill>
                  <a:srgbClr val="1F5E40"/>
                </a:solidFill>
                <a:latin typeface="Calibri"/>
              </a:rPr>
              <a:t>THREE DECISIONS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27064" y="1950000"/>
            <a:ext cx="5157216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>
                <a:solidFill>
                  <a:srgbClr val="16241C"/>
                </a:solidFill>
                <a:latin typeface="Calibri"/>
              </a:rPr>
              <a:t>1.  Approve the pilot workstreams and their three workstreams.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27064" y="2270000"/>
            <a:ext cx="5157216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>
                <a:solidFill>
                  <a:srgbClr val="6B7A70"/>
                </a:solidFill>
                <a:latin typeface="Calibri"/>
              </a:rPr>
              <a:t>Tenant register and desk, service catalogue and pricing, capex register, conversion list.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27064" y="2850000"/>
            <a:ext cx="5157216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6241C"/>
                </a:solidFill>
                <a:latin typeface="Calibri"/>
              </a:rPr>
              <a:t>2.  Name the Transformation Committee 2026–2030, chaired by the Board.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27064" y="3170000"/>
            <a:ext cx="5157216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dirty="0">
                <a:solidFill>
                  <a:srgbClr val="6B7A70"/>
                </a:solidFill>
                <a:latin typeface="Calibri"/>
              </a:rPr>
              <a:t>Five standing agendas, fed by the monthly report.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27064" y="3750000"/>
            <a:ext cx="5157216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6241C"/>
                </a:solidFill>
                <a:latin typeface="Calibri"/>
              </a:rPr>
              <a:t>3.  Hold large capex until the pilot review, so cash goes to conversion.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6928" y="5100000"/>
            <a:ext cx="11057839" cy="1100000"/>
          </a:xfrm>
          <a:prstGeom prst="rect">
            <a:avLst/>
          </a:prstGeom>
          <a:solidFill>
            <a:srgbClr val="1624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00000" y="5200000"/>
            <a:ext cx="1050000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DDE8DF"/>
                </a:solidFill>
                <a:latin typeface="Calibri"/>
              </a:rPr>
              <a:t>THE AIM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0000" y="5450000"/>
            <a:ext cx="10500000" cy="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Not an industrial property company that also sells utilities, but a developer of industrial ecosystems and infrastructure with strong recurring income — supported by the people it trains and the city it builds.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801807" y="6419088"/>
            <a:ext cx="82296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B7A70"/>
                </a:solidFill>
                <a:latin typeface="Calibri"/>
              </a:rPr>
              <a:t>13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2441</Words>
  <Application>Microsoft Office PowerPoint</Application>
  <PresentationFormat>宽屏</PresentationFormat>
  <Paragraphs>274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7" baseType="lpstr">
      <vt:lpstr>Arial</vt:lpstr>
      <vt:lpstr>Calibri</vt:lpstr>
      <vt:lpstr>Wingdings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 L</cp:lastModifiedBy>
  <cp:revision>39</cp:revision>
  <dcterms:created xsi:type="dcterms:W3CDTF">2013-01-27T09:14:16Z</dcterms:created>
  <dcterms:modified xsi:type="dcterms:W3CDTF">2026-10-27T10:10:32Z</dcterms:modified>
  <cp:category/>
</cp:coreProperties>
</file>